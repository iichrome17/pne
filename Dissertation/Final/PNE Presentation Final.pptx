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572000" y="0"/>
            <a:ext cx="73152" cy="6858000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645152" y="0"/>
            <a:ext cx="7543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20040" y="822960"/>
            <a:ext cx="40233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Psychological</a:t>
            </a:r>
            <a:b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Narrative Engine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20040" y="3383280"/>
            <a:ext cx="4023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PNE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20040" y="49377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Jerome Bawa  |  CS3IP Individual Project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20040" y="5321808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University of Reading  |  2025-26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5120640" y="1097280"/>
            <a:ext cx="676656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120640" y="1097280"/>
            <a:ext cx="6766560" cy="411480"/>
          </a:xfrm>
          <a:prstGeom prst="rect">
            <a:avLst/>
          </a:prstGeom>
          <a:solidFill>
            <a:srgbClr val="1E6F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257800" y="1143000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at a Glance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257800" y="1572768"/>
            <a:ext cx="649224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Problem:  NPC dialogue in games is scripted, static, psychologically hollow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Solution:  A BDI pipeline that makes NPCs think before they speak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How:  Cognition is deterministic (no AI) -&gt; local AI speaks the result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What:  Beliefs, Desires, Intentions -- no pre-written lines needed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Where:  Game-engine agnostic REST + WebSocket API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      Plug into Unity, Godot, Unreal Engine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Who:  Indie and mid-scale developers on consumer hardware (4-6 GB VRAM)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 -  The Problem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Chapter 1: Why dialogue trees are not enough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274320" y="1353312"/>
            <a:ext cx="11640312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274320" y="1353312"/>
            <a:ext cx="82296" cy="1024128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75488" y="13990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"NPCs in scripted systems do not hold beliefs or form intentions -- they evaluate conditions and return pre-written strings. The apparent depth of a well-written branching tree is purely a product of human authorship, not of any computational model of mind."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274320" y="2468880"/>
            <a:ext cx="557784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274320" y="2468880"/>
            <a:ext cx="5577840" cy="347472"/>
          </a:xfrm>
          <a:prstGeom prst="rect">
            <a:avLst/>
          </a:prstGeom>
          <a:solidFill>
            <a:srgbClr val="1E6F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384048" y="2514600"/>
            <a:ext cx="53949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Status Quo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11480" y="2880360"/>
            <a:ext cx="53492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The dialogue tree has dominated NPC interaction for 30+ years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Every response is pre-authored -- developers write every word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Scaling is expensive: more NPCs = proportionally more writing,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QA, and voice acting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NPCs pattern-match player choices -- they do not reason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Disco Elysium (2019) showed emergent narrative is possible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-- but only on the player side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6336792" y="2468880"/>
            <a:ext cx="557784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336792" y="2468880"/>
            <a:ext cx="5577840" cy="347472"/>
          </a:xfrm>
          <a:prstGeom prst="rect">
            <a:avLst/>
          </a:prstGeom>
          <a:solidFill>
            <a:srgbClr val="1E6F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6446520" y="2514600"/>
            <a:ext cx="53949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Research Question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473952" y="2880360"/>
            <a:ext cx="53492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Can an NPC hold an internal model of the world and respond from it?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Can psychological depth and player agency coexist?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Can cognition be separated from text generation?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The PNE answers: Yes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-&gt; Build a cognitive pipeline that thinks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then let a local AI speak the result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Target: indie/mid-scale developers, consumer hardware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Chapter 3: Four bodies of work that shape the PNE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274320" y="1389888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74320" y="1389888"/>
            <a:ext cx="2788920" cy="347472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384048" y="1435608"/>
            <a:ext cx="2606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BDI Agent Architecture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84048" y="1801368"/>
            <a:ext cx="2587800" cy="31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Bratman (1987)</a:t>
            </a:r>
            <a:endParaRPr b="1">
              <a:solidFill>
                <a:srgbClr val="0B5394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Beliefs -&gt; Desires -&gt; Intentions</a:t>
            </a:r>
            <a:endParaRPr b="1">
              <a:solidFill>
                <a:srgbClr val="0B5394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Foundation of the entire pipeline</a:t>
            </a:r>
            <a:endParaRPr b="1">
              <a:solidFill>
                <a:srgbClr val="0B5394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Rao &amp; Georgeff (1995)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BDI from theory to practice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Georgeff et al. (1999)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Formal BDI model of agency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Every pipeline stage maps directly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to BDI theory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182111" y="1389888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3182111" y="1389888"/>
            <a:ext cx="2788920" cy="347472"/>
          </a:xfrm>
          <a:prstGeom prst="rect">
            <a:avLst/>
          </a:prstGeom>
          <a:solidFill>
            <a:srgbClr val="1E6F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291839" y="1435608"/>
            <a:ext cx="2606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 Psychology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3291839" y="1801368"/>
            <a:ext cx="25878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Ellis (1962)</a:t>
            </a:r>
            <a:endParaRPr b="1">
              <a:solidFill>
                <a:srgbClr val="1155CC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A-B-C: events filtered through beliefs</a:t>
            </a:r>
            <a:endParaRPr b="1">
              <a:solidFill>
                <a:srgbClr val="1155CC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-&gt; Cognitive bias library</a:t>
            </a:r>
            <a:endParaRPr b="1">
              <a:solidFill>
                <a:srgbClr val="1155CC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Neisser (1967)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Cognition is constructive, not retrieval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Thought-pattern templates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Heider (1958)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Attribution theory + locus of control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NPC personality parameter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089903" y="1389888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6089903" y="1389888"/>
            <a:ext cx="2788920" cy="347472"/>
          </a:xfrm>
          <a:prstGeom prst="rect">
            <a:avLst/>
          </a:prstGeom>
          <a:solidFill>
            <a:srgbClr val="1A7A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6199631" y="1435608"/>
            <a:ext cx="2606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Psychology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199631" y="1801368"/>
            <a:ext cx="25878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Cialdini (1984)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Six principles of persuasion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Tone scoring system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Davis (1983)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Empathy as measurable dimension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Empathy NPC attribute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Festinger (1954)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comparison &amp; consistency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Desire formation grounding</a:t>
            </a:r>
            <a:endParaRPr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Goffman (1959) Dramaturgical model — people perform identities, not express them -&gt; NPC front/backstage split: private cognitive state vs. public behavioural intention </a:t>
            </a:r>
            <a:endParaRPr b="1" sz="13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8997696" y="1389888"/>
            <a:ext cx="278892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8997696" y="1389888"/>
            <a:ext cx="2788920" cy="347472"/>
          </a:xfrm>
          <a:prstGeom prst="rect">
            <a:avLst/>
          </a:prstGeom>
          <a:solidFill>
            <a:srgbClr val="7B2D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9107424" y="1435608"/>
            <a:ext cx="2606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Narrative &amp; Prior Systems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070849" y="1696218"/>
            <a:ext cx="25878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Mateas &amp; Stern (2003)</a:t>
            </a:r>
            <a:endParaRPr b="1">
              <a:solidFill>
                <a:srgbClr val="674EA7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Facade -- interactive drama</a:t>
            </a:r>
            <a:endParaRPr b="1">
              <a:solidFill>
                <a:srgbClr val="674EA7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74EA7"/>
                </a:solidFill>
                <a:latin typeface="Calibri"/>
                <a:ea typeface="Calibri"/>
                <a:cs typeface="Calibri"/>
                <a:sym typeface="Calibri"/>
              </a:rPr>
              <a:t>Closest prior system; compared directly</a:t>
            </a:r>
            <a:endParaRPr b="1">
              <a:solidFill>
                <a:srgbClr val="674EA7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Park et al. (2023)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Agents (LLM NPCs)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benchmark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Murray (1997)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Hamlet on the Holodeck: Ga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 need Immersion, Agency and Transmission. LLMs bridge this?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Gap: none combine structured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psychology with a local LLM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Chapter 4: How the system was designed and tested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274320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274320" y="1389888"/>
            <a:ext cx="5577840" cy="347472"/>
          </a:xfrm>
          <a:prstGeom prst="rect">
            <a:avLst/>
          </a:prstGeom>
          <a:solidFill>
            <a:srgbClr val="1E6F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384048" y="1435608"/>
            <a:ext cx="53949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 Approach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11480" y="1801368"/>
            <a:ext cx="534924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Agile iterative development (logbook-documented sprints)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Each component built, tested, then integrated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- 3 representative NPCs -- contrasting personality profiles: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Krakk  (high empathy, low assertion)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Moses  (max assertion, near-zero cognitive flexibility)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Troy   (low self-esteem, high assertion, zero independence)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Same scenario across all three: door_guard_night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No user studies -- internal state inspection as primary validation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Ethical: psychology constructs are design parameters,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not clinical representations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6336792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336792" y="1389888"/>
            <a:ext cx="5577840" cy="347472"/>
          </a:xfrm>
          <a:prstGeom prst="rect">
            <a:avLst/>
          </a:prstGeom>
          <a:solidFill>
            <a:srgbClr val="1E6F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6446520" y="1435608"/>
            <a:ext cx="53949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Strategy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473952" y="1801368"/>
            <a:ext cx="534924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Three evaluation questions: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1. Does internal NPC state stay consistent turn to turn?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2. Does the AI output match what the pipeline computed?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3. Does the FSM route to the correct narrative outcome?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Cognitive layer tested independently (no AI needed)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-- deterministic, fully unit-testable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Full pipeline trace logged per conversation turn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- Comparative player build test (Troy: Empathy vs Assertion)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to verify player agency is real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 -  The PNE Pipeline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Chapter 5: Seven stages from player input to NPC speech</a:t>
            </a:r>
            <a:endParaRPr/>
          </a:p>
        </p:txBody>
      </p:sp>
      <p:pic>
        <p:nvPicPr>
          <p:cNvPr descr="PNE Pipeline.png"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98448"/>
            <a:ext cx="8138160" cy="5349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8549640" y="1298448"/>
            <a:ext cx="3364992" cy="5349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8549640" y="1298448"/>
            <a:ext cx="3364992" cy="347472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8659367" y="1344168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Summary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686800" y="1709928"/>
            <a:ext cx="3127248" cy="4828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I    NPC Intent Layer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  Loads identity, goals, terminal endings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II   Choice Selection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  Player picks; tone is scored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IIa  Skill Check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  2 biased dice: player vs NPC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III  Cognitive Interpretation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  NPC forms an internal belief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IV   Desire Formation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  Belief -&gt; goal type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V    Socialisation Filter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  Goal -&gt; named behaviour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VI   Conversational Output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   Ollama generates the spoken text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300000" y="110000"/>
            <a:ext cx="1150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 —  Cognitive Layer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300000" y="810000"/>
            <a:ext cx="115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Stage III  |  "What does the NPC believe?"  |  Based on Ellis (1962) A-B-C  |  100% deterministic — no AI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220000" y="1297864"/>
            <a:ext cx="3450000" cy="2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220000" y="1297864"/>
            <a:ext cx="3450000" cy="330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290000" y="1362864"/>
            <a:ext cx="331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 —  what enters the layer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300100" y="1605075"/>
            <a:ext cx="33099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Player selects a dialogue option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Language Art: CHALLENGE / EMPATHETIC / DIPLOMATIC / MANIPULATIVE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Four tone scores: authority, diplomacy, empathy, manipulation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Skill Check result: success or fail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NPC personality (shapes every match):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self_esteem  |  locus_of_control  |  cog_flexibility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3700000" y="2147864"/>
            <a:ext cx="35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4070000" y="1297864"/>
            <a:ext cx="3600000" cy="2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4070000" y="1297864"/>
            <a:ext cx="3600000" cy="330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4140000" y="1362864"/>
            <a:ext cx="3459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CognitiveThoughtMatcher  (no 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140000" y="1687864"/>
            <a:ext cx="3460000" cy="1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810 pre-authored thought templates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D2B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Each template has: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bias_type  |  match_weights  |  thought 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Scoring: weights × (player tone + NPC params)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6FA8"/>
                </a:solidFill>
                <a:latin typeface="Calibri"/>
                <a:ea typeface="Calibri"/>
                <a:cs typeface="Calibri"/>
                <a:sym typeface="Calibri"/>
              </a:rPr>
              <a:t>Best-matching template selected deterministically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E6F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Different NPC profiles → provably different outputs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700000" y="2147864"/>
            <a:ext cx="35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8070000" y="1297864"/>
            <a:ext cx="3898952" cy="205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8070000" y="1297864"/>
            <a:ext cx="3898952" cy="330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8140000" y="1362864"/>
            <a:ext cx="3758952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 —  four values produced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140000" y="1687864"/>
            <a:ext cx="3758952" cy="1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internal_thought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NPC's private first-person reaction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6FA8"/>
                </a:solidFill>
                <a:latin typeface="Calibri"/>
                <a:ea typeface="Calibri"/>
                <a:cs typeface="Calibri"/>
                <a:sym typeface="Calibri"/>
              </a:rPr>
              <a:t>subjective_belief  ← KEY VALUE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What the NPC thinks of the player's intent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(keyword-rich — drives the desire layer)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emotional_valence   −1.0 to +1.0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cognitive_bias      e.g. black_white_thinking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3670000" y="3447875"/>
            <a:ext cx="4400100" cy="333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 flipH="1">
            <a:off x="3649898" y="3447875"/>
            <a:ext cx="4400100" cy="330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3649900" y="3502750"/>
            <a:ext cx="440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Theory — Ellis (1962) A-B-C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3649900" y="3959225"/>
            <a:ext cx="440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A  =  Activating event  →  player's dialogue choice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B  =  Belief            →  NPC's subjective interpretation  ← THIS LAYER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C  =  Consequence       →  emotional valence + desire formation (next layer)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6FA8"/>
                </a:solidFill>
                <a:latin typeface="Calibri"/>
                <a:ea typeface="Calibri"/>
                <a:cs typeface="Calibri"/>
                <a:sym typeface="Calibri"/>
              </a:rPr>
              <a:t>The cognitive layer IS the "B" — it mediates everything.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300000" y="110000"/>
            <a:ext cx="1150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 —  Desire Layer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300000" y="810000"/>
            <a:ext cx="115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Stage IV  |  "What does the NPC want?"  |  The belief text drives the goal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220000" y="1297864"/>
            <a:ext cx="11748952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The subjective_belief text from the cognitive layer is scanned for keywords.  Keyword patterns map directly to one of four desire types.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220000" y="1597864"/>
            <a:ext cx="2862238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220000" y="1597864"/>
            <a:ext cx="2862238" cy="330000"/>
          </a:xfrm>
          <a:prstGeom prst="rect">
            <a:avLst/>
          </a:prstGeom>
          <a:solidFill>
            <a:srgbClr val="1E6F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290000" y="1662864"/>
            <a:ext cx="2722238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INFORMATION-SEEKING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290000" y="1987864"/>
            <a:ext cx="2722238" cy="1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Trigger 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unclear, unsure, testing,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ambiguous, confused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Valence fallback: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valence &gt; +0.3 → this desire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E6FA8"/>
                </a:solidFill>
                <a:latin typeface="Calibri"/>
                <a:ea typeface="Calibri"/>
                <a:cs typeface="Calibri"/>
                <a:sym typeface="Calibri"/>
              </a:rPr>
              <a:t>NPC wants to understand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1E6FA8"/>
                </a:solidFill>
                <a:latin typeface="Calibri"/>
                <a:ea typeface="Calibri"/>
                <a:cs typeface="Calibri"/>
                <a:sym typeface="Calibri"/>
              </a:rPr>
              <a:t>what the player actually means.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3182238" y="1597864"/>
            <a:ext cx="2862238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3182238" y="1597864"/>
            <a:ext cx="2862238" cy="330000"/>
          </a:xfrm>
          <a:prstGeom prst="rect">
            <a:avLst/>
          </a:prstGeom>
          <a:solidFill>
            <a:srgbClr val="2EA0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3252238" y="1662864"/>
            <a:ext cx="2722238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AFFILIATION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3252238" y="1987864"/>
            <a:ext cx="2722238" cy="1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Trigger 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genuine, sincere, authentic,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honest, trust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Valence fallback: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valence &gt; +0.3 (if no keyword)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EA05A"/>
                </a:solidFill>
                <a:latin typeface="Calibri"/>
                <a:ea typeface="Calibri"/>
                <a:cs typeface="Calibri"/>
                <a:sym typeface="Calibri"/>
              </a:rPr>
              <a:t>NPC wants connection,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EA05A"/>
                </a:solidFill>
                <a:latin typeface="Calibri"/>
                <a:ea typeface="Calibri"/>
                <a:cs typeface="Calibri"/>
                <a:sym typeface="Calibri"/>
              </a:rPr>
              <a:t>agreement, or rapport.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6144476" y="1597864"/>
            <a:ext cx="2862238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6144476" y="1597864"/>
            <a:ext cx="2862238" cy="330000"/>
          </a:xfrm>
          <a:prstGeom prst="rect">
            <a:avLst/>
          </a:prstGeom>
          <a:solidFill>
            <a:srgbClr val="C0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6214476" y="1662864"/>
            <a:ext cx="2722238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PROTECTION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214476" y="1987864"/>
            <a:ext cx="2722238" cy="1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Trigger 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manipulative, threat, deceive,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danger, hostile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Valence fallback: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valence &lt; −0.3 → this desire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NPC wants to defend,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resist, or push back.</a:t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9106714" y="1597864"/>
            <a:ext cx="2862238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9106714" y="1597864"/>
            <a:ext cx="2862238" cy="330000"/>
          </a:xfrm>
          <a:prstGeom prst="rect">
            <a:avLst/>
          </a:prstGeom>
          <a:solidFill>
            <a:srgbClr val="E88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9176714" y="1662864"/>
            <a:ext cx="2722238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DOMINANCE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9176714" y="1987864"/>
            <a:ext cx="2722238" cy="1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Trigger 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opportunistic, exploit, force,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control, power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Also: ideological clash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when ideology_alignment fires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88A1A"/>
                </a:solidFill>
                <a:latin typeface="Calibri"/>
                <a:ea typeface="Calibri"/>
                <a:cs typeface="Calibri"/>
                <a:sym typeface="Calibri"/>
              </a:rPr>
              <a:t>NPC wants to assert,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88A1A"/>
                </a:solidFill>
                <a:latin typeface="Calibri"/>
                <a:ea typeface="Calibri"/>
                <a:cs typeface="Calibri"/>
                <a:sym typeface="Calibri"/>
              </a:rPr>
              <a:t>control, or challenge.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220000" y="3547864"/>
            <a:ext cx="5774476" cy="32301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220000" y="3547864"/>
            <a:ext cx="5774476" cy="330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290000" y="3612864"/>
            <a:ext cx="5634476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Bias Modifier — personality adjusts the desire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290000" y="3937864"/>
            <a:ext cx="5634476" cy="2800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After keyword patterns resolve, the cognitive_bias 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applies an intensity multiplier to the matching desire.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e.g.  black_white_thinking  → boosts DOMINANCE or PROTECTION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e.g.  confirmation_bias      → boosts AFFILIATION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e.g.  ideological_filter     → boosts PROTECTION (challenge) or AFFILIATION (agree)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6FA8"/>
                </a:solidFill>
                <a:latin typeface="Calibri"/>
                <a:ea typeface="Calibri"/>
                <a:cs typeface="Calibri"/>
                <a:sym typeface="Calibri"/>
              </a:rPr>
              <a:t>The bias is set by the cognitive layer — this is how the two stages chain together.</a:t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6194476" y="3547864"/>
            <a:ext cx="5774476" cy="323013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6194476" y="3547864"/>
            <a:ext cx="5774476" cy="330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264476" y="3612864"/>
            <a:ext cx="563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Wildcard Override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6264476" y="3937864"/>
            <a:ext cx="56346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Each NPC can have a wildcard personality trait.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Under extreme conditions it bypasses all keyword logic: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Examples in results:</a:t>
            </a:r>
            <a:endParaRPr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Moses — Martyr wildcard: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ideological pressure → hard-select PROTECTION at 0.978 confrontation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6FA8"/>
                </a:solidFill>
                <a:latin typeface="Calibri"/>
                <a:ea typeface="Calibri"/>
                <a:cs typeface="Calibri"/>
                <a:sym typeface="Calibri"/>
              </a:rPr>
              <a:t>Krakk — Inferiority wildcard: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sensitivi</a:t>
            </a: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ty to dismissive tone</a:t>
            </a:r>
            <a:endParaRPr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300000" y="110000"/>
            <a:ext cx="1150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 —  Socialisation Layer  (Intention)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300000" y="810000"/>
            <a:ext cx="115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Stage V  |  "How does the NPC act?"  |  Desire type → 1 of 19 named intentions → LLM speaks the result</a:t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220000" y="1297879"/>
            <a:ext cx="4200000" cy="3518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220000" y="1297864"/>
            <a:ext cx="4200000" cy="330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290000" y="1362864"/>
            <a:ext cx="406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INTENTION_REGISTRY — 19 canonical intentions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220000" y="1712846"/>
            <a:ext cx="40599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Each intention template has: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desire_type     — which desire this intention serves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confrontation_range  — [min, max] confrontation this intention uses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expression_type — calm / careful / firm / challenging / explosive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dialogue_direction  — a one-line scene direction for the LLM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Selection process: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1. Filter registry to templates matching the current desire_type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2. Score each against NPC personality + desire intensity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6FA8"/>
                </a:solidFill>
                <a:latin typeface="Calibri"/>
                <a:ea typeface="Calibri"/>
                <a:cs typeface="Calibri"/>
                <a:sym typeface="Calibri"/>
              </a:rPr>
              <a:t>  3. Pick best match — deterministic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E6F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6FA8"/>
                </a:solidFill>
                <a:latin typeface="Calibri"/>
                <a:ea typeface="Calibri"/>
                <a:cs typeface="Calibri"/>
                <a:sym typeface="Calibri"/>
              </a:rPr>
              <a:t>Confrontation is then CLAMPED to the NPC's natural range.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Low assertion NPC → confrontation stays low even under protection desire.</a:t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4620000" y="1297880"/>
            <a:ext cx="3399900" cy="1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620000" y="1297864"/>
            <a:ext cx="3400000" cy="330000"/>
          </a:xfrm>
          <a:prstGeom prst="rect">
            <a:avLst/>
          </a:prstGeom>
          <a:solidFill>
            <a:srgbClr val="1E6F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4690000" y="1362864"/>
            <a:ext cx="326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"Carefully Question Motives"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4690000" y="1687864"/>
            <a:ext cx="326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desire: information-seeking  |  confrontation: ~0.4  |  expression: careful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E6FA8"/>
                </a:solidFill>
                <a:latin typeface="Calibri"/>
                <a:ea typeface="Calibri"/>
                <a:cs typeface="Calibri"/>
                <a:sym typeface="Calibri"/>
              </a:rPr>
              <a:t>Direction: "Question the player's motivation with measured scepticism"</a:t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4620000" y="2451769"/>
            <a:ext cx="33999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4620000" y="2451786"/>
            <a:ext cx="3399900" cy="330000"/>
          </a:xfrm>
          <a:prstGeom prst="rect">
            <a:avLst/>
          </a:prstGeom>
          <a:solidFill>
            <a:srgbClr val="C0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4690000" y="2516786"/>
            <a:ext cx="326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"Defend Cause Passionately"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4690000" y="2841786"/>
            <a:ext cx="32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desire: protection (Martyr wildcard)  |  confrontation: 0.978  |  expression: explosive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Direction: "Confront the player with full ideological intensity"</a:t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4620000" y="3714528"/>
            <a:ext cx="3399900" cy="110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620000" y="3714518"/>
            <a:ext cx="3399900" cy="330000"/>
          </a:xfrm>
          <a:prstGeom prst="rect">
            <a:avLst/>
          </a:prstGeom>
          <a:solidFill>
            <a:srgbClr val="2EA0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4690000" y="3779529"/>
            <a:ext cx="229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"Accept Conditionally"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4690000" y="4104518"/>
            <a:ext cx="32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desire: affiliation  |  confrontation: ~0.3  |  expression: calm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EA05A"/>
                </a:solidFill>
                <a:latin typeface="Calibri"/>
                <a:ea typeface="Calibri"/>
                <a:cs typeface="Calibri"/>
                <a:sym typeface="Calibri"/>
              </a:rPr>
              <a:t>Direction: "Show willingness but attach a clear condition or expectation"</a:t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8220000" y="1297887"/>
            <a:ext cx="3749100" cy="5322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8220000" y="1297864"/>
            <a:ext cx="3748952" cy="330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8290000" y="1362864"/>
            <a:ext cx="3608952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goes to Ollama (LLM input):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8289975" y="1727864"/>
            <a:ext cx="3609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intention 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e.g.  "Defend Cause Passionately"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confrontation_level   0.0 – 1.0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expression_type      explosive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internal_thought     (NPC's private reaction)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subjective_belief    (what NPC thinks of player)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emotional_valence    −1.0 to +1.0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NPC personality summary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The LLM ONLY handles tone and phrasing.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The psychology is ALREADY decided.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This is the key architectural separation.</a:t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220000" y="4927875"/>
            <a:ext cx="5774400" cy="1850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219963" y="4992864"/>
            <a:ext cx="5774400" cy="330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219975" y="4992864"/>
            <a:ext cx="563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full BDI flow (one turn):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220000" y="5342875"/>
            <a:ext cx="54879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Player choice  →  [Cognitive Layer]  →  belief + bias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belief  →  [Desire Layer]  →  desire type (IAPD)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desire  →  [Socialisation Layer]  →  named intention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intention  →  Ollama  →  spoken NPC dialogue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E6FA8"/>
                </a:solidFill>
                <a:latin typeface="Calibri"/>
                <a:ea typeface="Calibri"/>
                <a:cs typeface="Calibri"/>
                <a:sym typeface="Calibri"/>
              </a:rPr>
              <a:t>Outcome layer: stance_delta + relation_delta + FSM routing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judgement score accumulates across turns → terminal condition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 -  Key Innovations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Chapter 5: What makes the PNE different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274320" y="1371600"/>
            <a:ext cx="56235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274320" y="1371600"/>
            <a:ext cx="5623560" cy="347472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384048" y="1417320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CognitiveThoughtMatcher  --  no AI in the reasoning layer</a:t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57200" y="1783080"/>
            <a:ext cx="53493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810 thought templates scored against player tone + NPC personality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Each template has match_weights — scored against tone signals and NPC params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Score normalised to [0.0, 1.0] — highest above 0.35 threshold wins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Different NPC profiles always produce different thoughts from the same input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6108192" y="1371600"/>
            <a:ext cx="56235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6108192" y="1371600"/>
            <a:ext cx="5623560" cy="347472"/>
          </a:xfrm>
          <a:prstGeom prst="rect">
            <a:avLst/>
          </a:prstGeom>
          <a:solidFill>
            <a:srgbClr val="1E6F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6217920" y="1417320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2-Dice Probabilistic Skill Check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6108192" y="1371600"/>
            <a:ext cx="73152" cy="2286000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6291072" y="1783080"/>
            <a:ext cx="5349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Player and NPC each roll a biased d6 — player wins on a tie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Player die biased by skill (0–10 normalised to 0.0–1.0) as exponential weight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NPC resistance formula e.g. authority: 0.3 + (assertion × 0.4) — range 0.30→0.70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success_probability() sums all winning (player, NPC) dice pairs analytically — no simulation needed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t/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274320" y="3867912"/>
            <a:ext cx="56235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274320" y="3867912"/>
            <a:ext cx="5623560" cy="347472"/>
          </a:xfrm>
          <a:prstGeom prst="rect">
            <a:avLst/>
          </a:prstGeom>
          <a:solidFill>
            <a:srgbClr val="1A7A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384048" y="3913632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Judgement-Score Finite State Machine</a:t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274320" y="3867912"/>
            <a:ext cx="73152" cy="2286000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57200" y="4215376"/>
            <a:ext cx="53493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Integer initialised at 50, shifted by each dice outcome across turns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Bold low-odds choices carry a risk multiplier — amplifies the consequence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Terminal condition checks judgement score + player_relation combined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Narrative outcome is always deterministic — AI text never touches routing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6108192" y="3867912"/>
            <a:ext cx="56235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6108192" y="3867912"/>
            <a:ext cx="5623560" cy="347472"/>
          </a:xfrm>
          <a:prstGeom prst="rect">
            <a:avLst/>
          </a:prstGeom>
          <a:solidFill>
            <a:srgbClr val="7B2D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6217920" y="3913632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Game-Engine Agnostic API</a:t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6108192" y="3867912"/>
            <a:ext cx="73152" cy="2286000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6291072" y="4279392"/>
            <a:ext cx="5349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FastAPI REST + WebSocket — connects to Unity, Godot, Unreal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Dialogue streams word by word via WebSocket for real-time feel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NPC profile and session state passed as JSON no format translation needed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No cloud, no per-request cost, fully offline</a:t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Chapter 6: Three NPCs, same scenario  --  door_guard_night</a:t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274320" y="1353312"/>
            <a:ext cx="9235440" cy="621792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347472" y="1426464"/>
            <a:ext cx="1216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NPC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1673352" y="1426464"/>
            <a:ext cx="40507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Personality Profile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5833872" y="1426464"/>
            <a:ext cx="15361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Opening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7479792" y="1426464"/>
            <a:ext cx="667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Turns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8257031" y="1426464"/>
            <a:ext cx="1216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274320" y="1975104"/>
            <a:ext cx="9235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347472" y="2048256"/>
            <a:ext cx="1216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Krakk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1673352" y="2048256"/>
            <a:ext cx="40507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High empathy (0.8), low assertion (0.3)</a:t>
            </a:r>
            <a:b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Inferiority wildcard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5833872" y="2048256"/>
            <a:ext cx="15361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Diplomatic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7479792" y="2048256"/>
            <a:ext cx="667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8257031" y="2048256"/>
            <a:ext cx="121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74E13"/>
                </a:solidFill>
                <a:latin typeface="Calibri"/>
                <a:ea typeface="Calibri"/>
                <a:cs typeface="Calibri"/>
                <a:sym typeface="Calibri"/>
              </a:rPr>
              <a:t>SUCCEED</a:t>
            </a:r>
            <a:endParaRPr b="1">
              <a:solidFill>
                <a:srgbClr val="274E13"/>
              </a:solidFill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274320" y="2596896"/>
            <a:ext cx="9235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347472" y="2670048"/>
            <a:ext cx="1216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Moses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1673352" y="2670048"/>
            <a:ext cx="40507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Max assertion (1.0), low cog. flex (0.3)</a:t>
            </a:r>
            <a:b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Martyr wildcard x2</a:t>
            </a:r>
            <a:endParaRPr/>
          </a:p>
        </p:txBody>
      </p:sp>
      <p:sp>
        <p:nvSpPr>
          <p:cNvPr id="318" name="Google Shape;318;p22"/>
          <p:cNvSpPr txBox="1"/>
          <p:nvPr/>
        </p:nvSpPr>
        <p:spPr>
          <a:xfrm>
            <a:off x="5833872" y="2670048"/>
            <a:ext cx="15361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Authority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7479792" y="2670048"/>
            <a:ext cx="667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8257031" y="2670048"/>
            <a:ext cx="121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74E13"/>
                </a:solidFill>
                <a:latin typeface="Calibri"/>
                <a:ea typeface="Calibri"/>
                <a:cs typeface="Calibri"/>
                <a:sym typeface="Calibri"/>
              </a:rPr>
              <a:t>SUCCEED</a:t>
            </a:r>
            <a:endParaRPr b="1">
              <a:solidFill>
                <a:srgbClr val="274E13"/>
              </a:solidFill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274320" y="3218688"/>
            <a:ext cx="9235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347472" y="3291840"/>
            <a:ext cx="1216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Troy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1673352" y="3291840"/>
            <a:ext cx="40507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Low self-esteem (0.2), high assertion (0.8)</a:t>
            </a:r>
            <a:b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No wildcard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5833872" y="3291840"/>
            <a:ext cx="15361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Authority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7479792" y="3291840"/>
            <a:ext cx="667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8257031" y="3291840"/>
            <a:ext cx="121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4E13"/>
                </a:solidFill>
                <a:latin typeface="Calibri"/>
                <a:ea typeface="Calibri"/>
                <a:cs typeface="Calibri"/>
                <a:sym typeface="Calibri"/>
              </a:rPr>
              <a:t>SUCCEED</a:t>
            </a:r>
            <a:endParaRPr b="1">
              <a:solidFill>
                <a:srgbClr val="274E13"/>
              </a:solidFill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274320" y="3840480"/>
            <a:ext cx="9235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347472" y="3913632"/>
            <a:ext cx="1216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Troy (alt)</a:t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1673352" y="3913632"/>
            <a:ext cx="4050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Same NPC -- </a:t>
            </a:r>
            <a:r>
              <a:rPr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But with an Assertion </a:t>
            </a: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build for player skills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5833872" y="3913632"/>
            <a:ext cx="1536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Authority</a:t>
            </a:r>
            <a:endParaRPr/>
          </a:p>
        </p:txBody>
      </p:sp>
      <p:sp>
        <p:nvSpPr>
          <p:cNvPr id="331" name="Google Shape;331;p22"/>
          <p:cNvSpPr txBox="1"/>
          <p:nvPr/>
        </p:nvSpPr>
        <p:spPr>
          <a:xfrm>
            <a:off x="7479792" y="3913632"/>
            <a:ext cx="667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8257031" y="3913632"/>
            <a:ext cx="121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274320" y="4572000"/>
            <a:ext cx="3657600" cy="2029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274320" y="4572000"/>
            <a:ext cx="3657600" cy="292608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411479" y="45902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Coherence</a:t>
            </a:r>
            <a:endParaRPr/>
          </a:p>
        </p:txBody>
      </p:sp>
      <p:sp>
        <p:nvSpPr>
          <p:cNvPr id="336" name="Google Shape;336;p22"/>
          <p:cNvSpPr/>
          <p:nvPr/>
        </p:nvSpPr>
        <p:spPr>
          <a:xfrm>
            <a:off x="4160520" y="4572000"/>
            <a:ext cx="3657600" cy="2029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4160520" y="4572000"/>
            <a:ext cx="3657600" cy="292608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4297680" y="45902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Player Agency</a:t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8046720" y="4572000"/>
            <a:ext cx="3657600" cy="20299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8046720" y="4572000"/>
            <a:ext cx="3657600" cy="292608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8183880" y="45902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Coherence Gap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411480" y="489204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Internal state consistent across all turns for all 3 NPCs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Cognitive bias correctly shaped desire type every case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Moses Martyr wildcard fired and held across turns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4297680" y="489204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Troy Empathy build -&gt; SUCCEED in 2 turns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Troy Assertion build -&gt; FAIL at turn 3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Outcome driven by skill distribution, not choice text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8183879" y="4892040"/>
            <a:ext cx="3429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Moses turn 3: pipeline said explosive / confrontation 0.978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LLM produced a more moderate response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Pipeline logic correct -- LLM did not express full intensity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300000" y="110000"/>
            <a:ext cx="1150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 —  Same Input, Different NPCs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300000" y="810000"/>
            <a:ext cx="115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Troy vs Moses: identical open_authority challenge → completely divergent pipeline states (Chapter 6.3)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220000" y="1297864"/>
            <a:ext cx="11748952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Both NPCs received the same player text.  Both produced negative emotional valence (−0.45).  Everything else diverged.</a:t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220000" y="1597864"/>
            <a:ext cx="5774476" cy="2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220000" y="1597864"/>
            <a:ext cx="5774476" cy="330000"/>
          </a:xfrm>
          <a:prstGeom prst="rect">
            <a:avLst/>
          </a:prstGeom>
          <a:solidFill>
            <a:srgbClr val="E88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 txBox="1"/>
          <p:nvPr/>
        </p:nvSpPr>
        <p:spPr>
          <a:xfrm>
            <a:off x="290000" y="1662864"/>
            <a:ext cx="5634476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TROY  —  open_authority  (same input)</a:t>
            </a:r>
            <a:endParaRPr/>
          </a:p>
        </p:txBody>
      </p:sp>
      <p:sp>
        <p:nvSpPr>
          <p:cNvPr id="358" name="Google Shape;358;p23"/>
          <p:cNvSpPr txBox="1"/>
          <p:nvPr/>
        </p:nvSpPr>
        <p:spPr>
          <a:xfrm>
            <a:off x="290000" y="1987864"/>
            <a:ext cx="563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Cognitive bias:    black_white_thinking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Loyalty binary — "you're with me or against me"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E88A1A"/>
                </a:solidFill>
                <a:latin typeface="Calibri"/>
                <a:ea typeface="Calibri"/>
                <a:cs typeface="Calibri"/>
                <a:sym typeface="Calibri"/>
              </a:rPr>
              <a:t>Desire type:       DOMINANCE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Threat pattern + negative valence → assert dominance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Intention:         "Stand Firm"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confrontation_level: 0.654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expression_type: challenging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relation_delta:    −0.15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C0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Root cause:  Troy's cog_flexibility = 0.1 (near-zero).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First impression locks in.  Hard to recover from.</a:t>
            </a:r>
            <a:endParaRPr sz="1200"/>
          </a:p>
        </p:txBody>
      </p:sp>
      <p:sp>
        <p:nvSpPr>
          <p:cNvPr id="359" name="Google Shape;359;p23"/>
          <p:cNvSpPr/>
          <p:nvPr/>
        </p:nvSpPr>
        <p:spPr>
          <a:xfrm>
            <a:off x="6194476" y="1597864"/>
            <a:ext cx="5774476" cy="2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6194476" y="1597864"/>
            <a:ext cx="5774476" cy="330000"/>
          </a:xfrm>
          <a:prstGeom prst="rect">
            <a:avLst/>
          </a:prstGeom>
          <a:solidFill>
            <a:srgbClr val="C0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 txBox="1"/>
          <p:nvPr/>
        </p:nvSpPr>
        <p:spPr>
          <a:xfrm>
            <a:off x="6264476" y="1662864"/>
            <a:ext cx="5634476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MOSES  —  open_authority  (identical input)</a:t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6264476" y="1987864"/>
            <a:ext cx="563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Cognitive bias:    ideological_filter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Not a loyalty test — an ideological challenge to his worldview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Desire type:       PROTECTION  +  Martyr wildcard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Entrenched Utilitarian worldview triggered wildcard override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Intention:         "Defend Cause Passionately"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confrontation_level: 0.978  (near-maximum)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expression_type: explosive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relation_delta:    −0.20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C0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Root cause:  Moses's max assertion (1.0) + Martyr wildcard.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Wildcard fires when he perceives ideological threat.</a:t>
            </a:r>
            <a:endParaRPr sz="1200"/>
          </a:p>
        </p:txBody>
      </p:sp>
      <p:sp>
        <p:nvSpPr>
          <p:cNvPr id="363" name="Google Shape;363;p23"/>
          <p:cNvSpPr/>
          <p:nvPr/>
        </p:nvSpPr>
        <p:spPr>
          <a:xfrm>
            <a:off x="220000" y="4247864"/>
            <a:ext cx="11748952" cy="2530136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 txBox="1"/>
          <p:nvPr/>
        </p:nvSpPr>
        <p:spPr>
          <a:xfrm>
            <a:off x="370000" y="4347864"/>
            <a:ext cx="11448952" cy="2330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Key finding: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pipeline produced different bias categories, different desire states, and different intention templates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IDENTICAL player input.  The divergence is 100% attributable to NPC personality parameters.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This is the core architectural claim of the dissertation — and the test data proves it.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4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 txBox="1"/>
          <p:nvPr/>
        </p:nvSpPr>
        <p:spPr>
          <a:xfrm>
            <a:off x="300000" y="110000"/>
            <a:ext cx="11500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 —  Same NPC, Different Player Skills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300000" y="810000"/>
            <a:ext cx="115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4F6F9"/>
                </a:solidFill>
                <a:latin typeface="Calibri"/>
                <a:ea typeface="Calibri"/>
                <a:cs typeface="Calibri"/>
                <a:sym typeface="Calibri"/>
              </a:rPr>
              <a:t>Troy: Empathy build vs Authority build — same scenario, same choice pool → opposite terminal outcomes (Chapter 6.5)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220000" y="1297864"/>
            <a:ext cx="11748952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door_guard_night scenario run twice against Troy.  Same NPC, same scenario, same choices available.  Only the PlayerSkillSet changed.</a:t>
            </a:r>
            <a:endParaRPr/>
          </a:p>
        </p:txBody>
      </p:sp>
      <p:sp>
        <p:nvSpPr>
          <p:cNvPr id="375" name="Google Shape;375;p24"/>
          <p:cNvSpPr/>
          <p:nvPr/>
        </p:nvSpPr>
        <p:spPr>
          <a:xfrm>
            <a:off x="220000" y="1597864"/>
            <a:ext cx="5774476" cy="2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220000" y="1597864"/>
            <a:ext cx="5774476" cy="330000"/>
          </a:xfrm>
          <a:prstGeom prst="rect">
            <a:avLst/>
          </a:prstGeom>
          <a:solidFill>
            <a:srgbClr val="2EA0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4"/>
          <p:cNvSpPr txBox="1"/>
          <p:nvPr/>
        </p:nvSpPr>
        <p:spPr>
          <a:xfrm>
            <a:off x="290000" y="1662864"/>
            <a:ext cx="5634476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A  —  Empathy Build  →  SUCCEED  ★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290000" y="1987864"/>
            <a:ext cx="56346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Skills: Authority 2  |  Diplomacy 5  |  Empathy 9  |  Manipulation 2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D2B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Turn 1: empathy-weighted dice → open_empathy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EA05A"/>
                </a:solidFill>
                <a:latin typeface="Calibri"/>
                <a:ea typeface="Calibri"/>
                <a:cs typeface="Calibri"/>
                <a:sym typeface="Calibri"/>
              </a:rPr>
              <a:t>  Cognitive: ideological_filter bias (POSITIVE valence +0.45)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Desire: affiliation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Intention: "Accept Conditionally"  |  confrontation 0.3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EA05A"/>
                </a:solidFill>
                <a:latin typeface="Calibri"/>
                <a:ea typeface="Calibri"/>
                <a:cs typeface="Calibri"/>
                <a:sym typeface="Calibri"/>
              </a:rPr>
              <a:t>  relation_delta: +0.25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2EA0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Turn 2: shared values confirmed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EA05A"/>
                </a:solidFill>
                <a:latin typeface="Calibri"/>
                <a:ea typeface="Calibri"/>
                <a:cs typeface="Calibri"/>
                <a:sym typeface="Calibri"/>
              </a:rPr>
              <a:t>  relation crosses SUCCEED threshold → terminal SUCCEED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2EA05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EA05A"/>
                </a:solidFill>
                <a:latin typeface="Calibri"/>
                <a:ea typeface="Calibri"/>
                <a:cs typeface="Calibri"/>
                <a:sym typeface="Calibri"/>
              </a:rPr>
              <a:t>Final player_relation: 0.85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EA05A"/>
                </a:solidFill>
                <a:latin typeface="Calibri"/>
                <a:ea typeface="Calibri"/>
                <a:cs typeface="Calibri"/>
                <a:sym typeface="Calibri"/>
              </a:rPr>
              <a:t>Turns to terminal: 2</a:t>
            </a:r>
            <a:endParaRPr sz="1300"/>
          </a:p>
        </p:txBody>
      </p:sp>
      <p:sp>
        <p:nvSpPr>
          <p:cNvPr id="379" name="Google Shape;379;p24"/>
          <p:cNvSpPr/>
          <p:nvPr/>
        </p:nvSpPr>
        <p:spPr>
          <a:xfrm>
            <a:off x="6194476" y="1597864"/>
            <a:ext cx="5774476" cy="2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6194476" y="1597864"/>
            <a:ext cx="5774476" cy="330000"/>
          </a:xfrm>
          <a:prstGeom prst="rect">
            <a:avLst/>
          </a:prstGeom>
          <a:solidFill>
            <a:srgbClr val="C03A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 txBox="1"/>
          <p:nvPr/>
        </p:nvSpPr>
        <p:spPr>
          <a:xfrm>
            <a:off x="6264476" y="1662864"/>
            <a:ext cx="5634476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B  —  Authority Build  →  FAIL  ✗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6264476" y="1987864"/>
            <a:ext cx="563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D2B45"/>
                </a:solidFill>
                <a:latin typeface="Calibri"/>
                <a:ea typeface="Calibri"/>
                <a:cs typeface="Calibri"/>
                <a:sym typeface="Calibri"/>
              </a:rPr>
              <a:t>Skills: Authority 9  |  Diplomacy 5  |  Empathy 2  |  Manipulation 2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D2B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Turn 1: authority-weighted dice → open_authority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  Cognitive: black_white_thinking bias (NEGATIVE valence −0.45)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Desire: dominance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Intention: "Stand Firm"  |  confrontation 0.654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  relation_delta: −0.15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C0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Turns 2–3: Troy's cog_flexibility = 0.1 locks in first impression.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Recovery attempts fail — negative momentum compounds.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  Terminal FAIL reached at turn 3.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C0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03A3A"/>
                </a:solidFill>
                <a:latin typeface="Calibri"/>
                <a:ea typeface="Calibri"/>
                <a:cs typeface="Calibri"/>
                <a:sym typeface="Calibri"/>
              </a:rPr>
              <a:t>Final player_relation: 0.2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cog_flexibility did not shift across any turn.</a:t>
            </a:r>
            <a:endParaRPr sz="1200"/>
          </a:p>
        </p:txBody>
      </p:sp>
      <p:sp>
        <p:nvSpPr>
          <p:cNvPr id="383" name="Google Shape;383;p24"/>
          <p:cNvSpPr/>
          <p:nvPr/>
        </p:nvSpPr>
        <p:spPr>
          <a:xfrm>
            <a:off x="220000" y="4247864"/>
            <a:ext cx="11748952" cy="2530136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370000" y="4347864"/>
            <a:ext cx="11448952" cy="2330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Key finding: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 NPC.  Same scenario.  Same choice pool.  Different skill distribution → different dice bias →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different bias activation → different desire → different intention → opposite terminal outcome.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Player agency is real, mechanically grounded, and fully traceable through the pipeline logs.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5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5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 &amp; Analysis</a:t>
            </a:r>
            <a:endParaRPr/>
          </a:p>
        </p:txBody>
      </p:sp>
      <p:sp>
        <p:nvSpPr>
          <p:cNvPr id="393" name="Google Shape;393;p25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Chapter 7: What the results tell us -- and where the limits are</a:t>
            </a:r>
            <a:endParaRPr/>
          </a:p>
        </p:txBody>
      </p:sp>
      <p:sp>
        <p:nvSpPr>
          <p:cNvPr id="394" name="Google Shape;394;p25"/>
          <p:cNvSpPr/>
          <p:nvPr/>
        </p:nvSpPr>
        <p:spPr>
          <a:xfrm>
            <a:off x="274320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274320" y="1389888"/>
            <a:ext cx="5577840" cy="347472"/>
          </a:xfrm>
          <a:prstGeom prst="rect">
            <a:avLst/>
          </a:prstGeom>
          <a:solidFill>
            <a:srgbClr val="1A7A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 txBox="1"/>
          <p:nvPr/>
        </p:nvSpPr>
        <p:spPr>
          <a:xfrm>
            <a:off x="384048" y="1435608"/>
            <a:ext cx="53949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11480" y="1801368"/>
            <a:ext cx="5349300" cy="4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BDI pipeline produces psychologically coherent NPC behaviour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without requiring the AI to reason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Separating cognition from language generation works: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reasoning is deterministic and testable;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speech is constrained by 19 canonical intentions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Personality parameters meaningfully differentiate NPCs --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Krakk, Moses and Troy behave exactly as their profiles predict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Player agency is real: skill distribution determines terminal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routing, not just which words the player chose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Local AI (Qwen2.5:3b) is viable for real-time dialogue on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consumer hardware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Research question answered: Yes -- psychological realism,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narrative coherence, and player agency can coexist</a:t>
            </a:r>
            <a:endParaRPr sz="1300"/>
          </a:p>
        </p:txBody>
      </p:sp>
      <p:sp>
        <p:nvSpPr>
          <p:cNvPr id="398" name="Google Shape;398;p25"/>
          <p:cNvSpPr/>
          <p:nvPr/>
        </p:nvSpPr>
        <p:spPr>
          <a:xfrm>
            <a:off x="6336792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6336792" y="1389888"/>
            <a:ext cx="5577840" cy="347472"/>
          </a:xfrm>
          <a:prstGeom prst="rect">
            <a:avLst/>
          </a:prstGeom>
          <a:solidFill>
            <a:srgbClr val="B040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 txBox="1"/>
          <p:nvPr/>
        </p:nvSpPr>
        <p:spPr>
          <a:xfrm>
            <a:off x="6446520" y="1435608"/>
            <a:ext cx="53949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&amp; Honest Critique</a:t>
            </a:r>
            <a:endParaRPr/>
          </a:p>
        </p:txBody>
      </p:sp>
      <p:sp>
        <p:nvSpPr>
          <p:cNvPr id="401" name="Google Shape;401;p25"/>
          <p:cNvSpPr txBox="1"/>
          <p:nvPr/>
        </p:nvSpPr>
        <p:spPr>
          <a:xfrm>
            <a:off x="6473952" y="1801368"/>
            <a:ext cx="53493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AI coherence gap: model under-expressed intensity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on Moses turn 3 despite identical pipeline state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Wildcard system partially implemented -- complex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multi-turn wildcard interactions not fully tested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Logging gap: some internal transitions not persisted,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limiting analysis depth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Narrow scenario coverage: one scenario, three NPCs;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generalisation claims are bounded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4-6 GB VRAM requirement excludes low-spec hardware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and mobile devices entirely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Future validation needed across broader scenario types</a:t>
            </a:r>
            <a:endParaRPr sz="13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and larger NPC casts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6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/>
          </a:p>
        </p:txBody>
      </p:sp>
      <p:sp>
        <p:nvSpPr>
          <p:cNvPr id="410" name="Google Shape;410;p26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Chapter 8: What was achieved -- and where next</a:t>
            </a:r>
            <a:endParaRPr/>
          </a:p>
        </p:txBody>
      </p:sp>
      <p:sp>
        <p:nvSpPr>
          <p:cNvPr id="411" name="Google Shape;411;p26"/>
          <p:cNvSpPr/>
          <p:nvPr/>
        </p:nvSpPr>
        <p:spPr>
          <a:xfrm>
            <a:off x="274320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274320" y="1389888"/>
            <a:ext cx="5577840" cy="347472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6"/>
          <p:cNvSpPr txBox="1"/>
          <p:nvPr/>
        </p:nvSpPr>
        <p:spPr>
          <a:xfrm>
            <a:off x="384048" y="1435608"/>
            <a:ext cx="53949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414" name="Google Shape;414;p26"/>
          <p:cNvSpPr txBox="1"/>
          <p:nvPr/>
        </p:nvSpPr>
        <p:spPr>
          <a:xfrm>
            <a:off x="411480" y="1801368"/>
            <a:ext cx="534924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The PNE demonstrates that a BDI pipeline + psychology-grounded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personality model + constrained local AI is a viable architecture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for adaptive NPC dialogue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NPCs can think deterministically and speak naturally --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without pre-authored lines and without cloud infrastructure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The system is game-engine agnostic, open-source, and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deployable on mid-range consumer hardware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Key contribution: the CognitiveThoughtMatcher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An AI-free, testable cognitive interpretation layer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grounded in Ellis (1962), Heider (1958), Davis (1983)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Practical impact: enables indie developers to author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psychologically rich NPC dialogue at a fraction of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traditional authorial cost</a:t>
            </a:r>
            <a:endParaRPr/>
          </a:p>
        </p:txBody>
      </p:sp>
      <p:sp>
        <p:nvSpPr>
          <p:cNvPr id="415" name="Google Shape;415;p26"/>
          <p:cNvSpPr/>
          <p:nvPr/>
        </p:nvSpPr>
        <p:spPr>
          <a:xfrm>
            <a:off x="6336792" y="1389888"/>
            <a:ext cx="5577840" cy="5166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6"/>
          <p:cNvSpPr/>
          <p:nvPr/>
        </p:nvSpPr>
        <p:spPr>
          <a:xfrm>
            <a:off x="6336792" y="1389888"/>
            <a:ext cx="5577840" cy="347472"/>
          </a:xfrm>
          <a:prstGeom prst="rect">
            <a:avLst/>
          </a:prstGeom>
          <a:solidFill>
            <a:srgbClr val="1E6FA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6"/>
          <p:cNvSpPr txBox="1"/>
          <p:nvPr/>
        </p:nvSpPr>
        <p:spPr>
          <a:xfrm>
            <a:off x="6446520" y="1435608"/>
            <a:ext cx="53949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</p:txBody>
      </p:sp>
      <p:sp>
        <p:nvSpPr>
          <p:cNvPr id="418" name="Google Shape;418;p26"/>
          <p:cNvSpPr txBox="1"/>
          <p:nvPr/>
        </p:nvSpPr>
        <p:spPr>
          <a:xfrm>
            <a:off x="6473952" y="1801368"/>
            <a:ext cx="53493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Player Model Memory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NPCs that similar architectures as world for the Player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Persistent NPC memory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Relationship history that carries across sessions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Multi-NPC interaction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NPCs that react to each other, not just to the player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Expanded scenario coverage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Full story arcs, not just single instance scenarios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Larger AI evaluation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Quantify coherence gap across model sizes (3B -&gt; 7B)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Enhanced Questline integration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More success / fail types, reintroducing negotiation to avoid binary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7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2AB4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0" y="1197864"/>
            <a:ext cx="12188952" cy="5660136"/>
          </a:xfrm>
          <a:prstGeom prst="rect">
            <a:avLst/>
          </a:prstGeom>
          <a:solidFill>
            <a:srgbClr val="F4F6F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7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427" name="Google Shape;427;p27"/>
          <p:cNvSpPr txBox="1"/>
          <p:nvPr/>
        </p:nvSpPr>
        <p:spPr>
          <a:xfrm>
            <a:off x="320040" y="82296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2AB4C4"/>
                </a:solidFill>
                <a:latin typeface="Calibri"/>
                <a:ea typeface="Calibri"/>
                <a:cs typeface="Calibri"/>
                <a:sym typeface="Calibri"/>
              </a:rPr>
              <a:t>Key sources cited in this presentation</a:t>
            </a:r>
            <a:endParaRPr/>
          </a:p>
        </p:txBody>
      </p:sp>
      <p:sp>
        <p:nvSpPr>
          <p:cNvPr id="428" name="Google Shape;428;p27"/>
          <p:cNvSpPr txBox="1"/>
          <p:nvPr/>
        </p:nvSpPr>
        <p:spPr>
          <a:xfrm>
            <a:off x="274320" y="1353312"/>
            <a:ext cx="5943600" cy="534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Bratman, M. (1987) Intention, plans, and practical reason.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Cambridge, MA: Harvard University Press.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Rao, A.S. &amp; Georgeff, M.P. (1995) 'BDI agents: from theory to practice'.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Proc. ICMAS-95. Menlo Park: AAAI Press, pp. 312-319.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Georgeff, M. et al. (1999) 'The BDI model of agency'.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Intelligent Agents V, LNCS 1555. Berlin: Springer, pp. 1-10.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Mateas, M. &amp; Stern, A. (2003) 'Facade'.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Proc. Game Developers Conference, San Jose, CA.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Park, J.S. et al. (2023) 'Generative agents'.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Proc. UIST '23. New York: ACM.</a:t>
            </a:r>
            <a:endParaRPr/>
          </a:p>
        </p:txBody>
      </p:sp>
      <p:sp>
        <p:nvSpPr>
          <p:cNvPr id="429" name="Google Shape;429;p27"/>
          <p:cNvSpPr txBox="1"/>
          <p:nvPr/>
        </p:nvSpPr>
        <p:spPr>
          <a:xfrm>
            <a:off x="6355080" y="1353312"/>
            <a:ext cx="5577840" cy="534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Ellis, A. (1962) Reason and emotion in psychotherapy.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New York: Lyle Stuart.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Heider, F. (1958) The psychology of interpersonal relations.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New York: Wiley.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Davis, M.H. (1983) 'Measuring individual differences in empathy'.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J. Personality &amp; Social Psychology, 44(1), pp. 113-126.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Cialdini, R.B. (1984) Influence: the psychology of persuasion.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New York: Harper Collins.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4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Murray, J.H. (1997) Hamlet on the Holodeck.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44455"/>
                </a:solidFill>
                <a:latin typeface="Calibri"/>
                <a:ea typeface="Calibri"/>
                <a:cs typeface="Calibri"/>
                <a:sym typeface="Calibri"/>
              </a:rPr>
              <a:t>  New York: Free Press.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