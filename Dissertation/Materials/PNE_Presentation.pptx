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D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0" y="0"/>
            <a:ext cx="73152" cy="6858000"/>
          </a:xfrm>
          <a:prstGeom prst="rect">
            <a:avLst/>
          </a:prstGeom>
          <a:solidFill>
            <a:srgbClr val="2AB4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645152" y="0"/>
            <a:ext cx="75438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822960"/>
            <a:ext cx="40233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</a:rPr>
              <a:t>Psychological
Narrative Engine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3383280"/>
            <a:ext cx="4023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2AB4C4"/>
                </a:solidFill>
              </a:rPr>
              <a:t>PNE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4937760"/>
            <a:ext cx="4023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4F6F9"/>
                </a:solidFill>
              </a:rPr>
              <a:t>Jerome Bawa  |  CS3IP Individual Project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5321808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4F6F9"/>
                </a:solidFill>
              </a:rPr>
              <a:t>University of Reading  |  2025-26</a:t>
            </a:r>
          </a:p>
        </p:txBody>
      </p:sp>
      <p:sp>
        <p:nvSpPr>
          <p:cNvPr id="9" name="Rectangle 8"/>
          <p:cNvSpPr/>
          <p:nvPr/>
        </p:nvSpPr>
        <p:spPr>
          <a:xfrm>
            <a:off x="5120640" y="1097280"/>
            <a:ext cx="6766560" cy="5029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120640" y="1097280"/>
            <a:ext cx="6766560" cy="411480"/>
          </a:xfrm>
          <a:prstGeom prst="rect">
            <a:avLst/>
          </a:prstGeom>
          <a:solidFill>
            <a:srgbClr val="1E6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57800" y="1143000"/>
            <a:ext cx="6492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Project at a Glance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57800" y="1572768"/>
            <a:ext cx="6492240" cy="4434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400">
                <a:solidFill>
                  <a:srgbClr val="444455"/>
                </a:solidFill>
              </a:rPr>
              <a:t>Problem:  NPC dialogue in games is scripted, static, psychologically hollow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444455"/>
                </a:solidFill>
              </a:rPr>
              <a:t/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444455"/>
                </a:solidFill>
              </a:rPr>
              <a:t>Solution:  A BDI pipeline that makes NPCs think before they speak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444455"/>
                </a:solidFill>
              </a:rPr>
              <a:t/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444455"/>
                </a:solidFill>
              </a:rPr>
              <a:t>How:  Cognition is deterministic (no AI) -&gt; local AI speaks the result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444455"/>
                </a:solidFill>
              </a:rPr>
              <a:t/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444455"/>
                </a:solidFill>
              </a:rPr>
              <a:t>What:  Beliefs, Desires, Intentions -- no pre-written lines needed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444455"/>
                </a:solidFill>
              </a:rPr>
              <a:t/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444455"/>
                </a:solidFill>
              </a:rPr>
              <a:t>Where:  Game-engine agnostic REST + WebSocket API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444455"/>
                </a:solidFill>
              </a:rPr>
              <a:t>         Plug into Unity, Godot, Unreal Engine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444455"/>
                </a:solidFill>
              </a:rPr>
              <a:t/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444455"/>
                </a:solidFill>
              </a:rPr>
              <a:t>Who:  Indie and mid-scale developers on consumer hardware (4-6 GB VRAM)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0D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88952" cy="54864"/>
          </a:xfrm>
          <a:prstGeom prst="rect">
            <a:avLst/>
          </a:prstGeom>
          <a:solidFill>
            <a:srgbClr val="2AB4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97864"/>
            <a:ext cx="12188952" cy="5660136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09728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Introduction  -  The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82296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AB4C4"/>
                </a:solidFill>
              </a:rPr>
              <a:t>Chapter 1: Why dialogue trees are not enough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353312"/>
            <a:ext cx="11640312" cy="10241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353312"/>
            <a:ext cx="82296" cy="1024128"/>
          </a:xfrm>
          <a:prstGeom prst="rect">
            <a:avLst/>
          </a:prstGeom>
          <a:solidFill>
            <a:srgbClr val="2AB4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1399032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444455"/>
                </a:solidFill>
              </a:rPr>
              <a:t>"NPCs in scripted systems do not hold beliefs or form intentions -- they evaluate conditions and return pre-written strings. The apparent depth of a well-written branching tree is purely a product of human authorship, not of any computational model of mind."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2468880"/>
            <a:ext cx="5577840" cy="4160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4320" y="2468880"/>
            <a:ext cx="5577840" cy="347472"/>
          </a:xfrm>
          <a:prstGeom prst="rect">
            <a:avLst/>
          </a:prstGeom>
          <a:solidFill>
            <a:srgbClr val="1E6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4048" y="2514600"/>
            <a:ext cx="539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The Status Quo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2880360"/>
            <a:ext cx="53492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500">
                <a:solidFill>
                  <a:srgbClr val="444455"/>
                </a:solidFill>
              </a:rPr>
              <a:t>- The dialogue tree has dominated NPC interaction for 30+ years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444455"/>
                </a:solidFill>
              </a:rPr>
              <a:t/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444455"/>
                </a:solidFill>
              </a:rPr>
              <a:t>- Every response is pre-authored -- developers write every word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444455"/>
                </a:solidFill>
              </a:rPr>
              <a:t/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444455"/>
                </a:solidFill>
              </a:rPr>
              <a:t>- Scaling is expensive: more NPCs = proportionally more writing,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444455"/>
                </a:solidFill>
              </a:rPr>
              <a:t>  QA, and voice acting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444455"/>
                </a:solidFill>
              </a:rPr>
              <a:t/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444455"/>
                </a:solidFill>
              </a:rPr>
              <a:t>- NPCs pattern-match player choices -- they do not reason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444455"/>
                </a:solidFill>
              </a:rPr>
              <a:t/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444455"/>
                </a:solidFill>
              </a:rPr>
              <a:t>- Disco Elysium (2019) showed emergent narrative is possible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444455"/>
                </a:solidFill>
              </a:rPr>
              <a:t>  -- but only on the player side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36792" y="2468880"/>
            <a:ext cx="5577840" cy="4160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36792" y="2468880"/>
            <a:ext cx="5577840" cy="347472"/>
          </a:xfrm>
          <a:prstGeom prst="rect">
            <a:avLst/>
          </a:prstGeom>
          <a:solidFill>
            <a:srgbClr val="1E6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2514600"/>
            <a:ext cx="539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The Research Question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880360"/>
            <a:ext cx="53492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500">
                <a:solidFill>
                  <a:srgbClr val="444455"/>
                </a:solidFill>
              </a:rPr>
              <a:t>- Can an NPC hold an internal model of the world and respond from it?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444455"/>
                </a:solidFill>
              </a:rPr>
              <a:t/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444455"/>
                </a:solidFill>
              </a:rPr>
              <a:t>- Can psychological depth and player agency coexist?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444455"/>
                </a:solidFill>
              </a:rPr>
              <a:t/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444455"/>
                </a:solidFill>
              </a:rPr>
              <a:t>- Can cognition be separated from text generation?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444455"/>
                </a:solidFill>
              </a:rPr>
              <a:t/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444455"/>
                </a:solidFill>
              </a:rPr>
              <a:t>The PNE answers: Yes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444455"/>
                </a:solidFill>
              </a:rPr>
              <a:t/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444455"/>
                </a:solidFill>
              </a:rPr>
              <a:t>-&gt; Build a cognitive pipeline that thinks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444455"/>
                </a:solidFill>
              </a:rPr>
              <a:t>   then let a local AI speak the result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444455"/>
                </a:solidFill>
              </a:rPr>
              <a:t/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444455"/>
                </a:solidFill>
              </a:rPr>
              <a:t>Target: indie/mid-scale developers, consumer hardware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0D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88952" cy="54864"/>
          </a:xfrm>
          <a:prstGeom prst="rect">
            <a:avLst/>
          </a:prstGeom>
          <a:solidFill>
            <a:srgbClr val="2AB4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97864"/>
            <a:ext cx="12188952" cy="5660136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09728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Literature Review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82296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AB4C4"/>
                </a:solidFill>
              </a:rPr>
              <a:t>Chapter 3: Four bodies of work that shape the PNE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389888"/>
            <a:ext cx="2788920" cy="5166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389888"/>
            <a:ext cx="2788920" cy="347472"/>
          </a:xfrm>
          <a:prstGeom prst="rect">
            <a:avLst/>
          </a:prstGeom>
          <a:solidFill>
            <a:srgbClr val="0D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1435608"/>
            <a:ext cx="2606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BDI Agent Architecture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1801368"/>
            <a:ext cx="2587751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300">
                <a:solidFill>
                  <a:srgbClr val="444455"/>
                </a:solidFill>
              </a:rPr>
              <a:t>Bratman (1987)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55"/>
                </a:solidFill>
              </a:rPr>
              <a:t>Beliefs -&gt; Desires -&gt; Intentions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55"/>
                </a:solidFill>
              </a:rPr>
              <a:t>Foundation of the entire pipeline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55"/>
                </a:solidFill>
              </a:rPr>
              <a:t/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55"/>
                </a:solidFill>
              </a:rPr>
              <a:t>Rao &amp; Georgeff (1995)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55"/>
                </a:solidFill>
              </a:rPr>
              <a:t>BDI from theory to practice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55"/>
                </a:solidFill>
              </a:rPr>
              <a:t/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55"/>
                </a:solidFill>
              </a:rPr>
              <a:t>Georgeff et al. (1999)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55"/>
                </a:solidFill>
              </a:rPr>
              <a:t>Formal BDI model of agency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55"/>
                </a:solidFill>
              </a:rPr>
              <a:t/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55"/>
                </a:solidFill>
              </a:rPr>
              <a:t>-&gt; Every pipeline stage maps directly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55"/>
                </a:solidFill>
              </a:rPr>
              <a:t>   to BDI theory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82111" y="1389888"/>
            <a:ext cx="2788920" cy="5166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182111" y="1389888"/>
            <a:ext cx="2788920" cy="347472"/>
          </a:xfrm>
          <a:prstGeom prst="rect">
            <a:avLst/>
          </a:prstGeom>
          <a:solidFill>
            <a:srgbClr val="1E6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91839" y="1435608"/>
            <a:ext cx="2606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Cognitive Psychology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39" y="1801368"/>
            <a:ext cx="2587751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300">
                <a:solidFill>
                  <a:srgbClr val="444455"/>
                </a:solidFill>
              </a:rPr>
              <a:t>Ellis (1962)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55"/>
                </a:solidFill>
              </a:rPr>
              <a:t>A-B-C: events filtered through beliefs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55"/>
                </a:solidFill>
              </a:rPr>
              <a:t>-&gt; Cognitive bias library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55"/>
                </a:solidFill>
              </a:rPr>
              <a:t/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55"/>
                </a:solidFill>
              </a:rPr>
              <a:t>Neisser (1967)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55"/>
                </a:solidFill>
              </a:rPr>
              <a:t>Cognition is constructive, not retrieval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55"/>
                </a:solidFill>
              </a:rPr>
              <a:t>-&gt; Thought-pattern templates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55"/>
                </a:solidFill>
              </a:rPr>
              <a:t/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55"/>
                </a:solidFill>
              </a:rPr>
              <a:t>Heider (1958)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55"/>
                </a:solidFill>
              </a:rPr>
              <a:t>Attribution theory + locus of control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55"/>
                </a:solidFill>
              </a:rPr>
              <a:t>-&gt; NPC personality parameter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89903" y="1389888"/>
            <a:ext cx="2788920" cy="5166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089903" y="1389888"/>
            <a:ext cx="2788920" cy="347472"/>
          </a:xfrm>
          <a:prstGeom prst="rect">
            <a:avLst/>
          </a:prstGeom>
          <a:solidFill>
            <a:srgbClr val="1A7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99631" y="1435608"/>
            <a:ext cx="2606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Social Psychology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99631" y="1801368"/>
            <a:ext cx="2587751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300">
                <a:solidFill>
                  <a:srgbClr val="444455"/>
                </a:solidFill>
              </a:rPr>
              <a:t>Cialdini (1984)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55"/>
                </a:solidFill>
              </a:rPr>
              <a:t>Six principles of persuasion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55"/>
                </a:solidFill>
              </a:rPr>
              <a:t>-&gt; Tone scoring system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55"/>
                </a:solidFill>
              </a:rPr>
              <a:t/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55"/>
                </a:solidFill>
              </a:rPr>
              <a:t>Davis (1983)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55"/>
                </a:solidFill>
              </a:rPr>
              <a:t>Empathy as measurable dimension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55"/>
                </a:solidFill>
              </a:rPr>
              <a:t>-&gt; Empathy NPC attribute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55"/>
                </a:solidFill>
              </a:rPr>
              <a:t/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55"/>
                </a:solidFill>
              </a:rPr>
              <a:t>Festinger (1954)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55"/>
                </a:solidFill>
              </a:rPr>
              <a:t>Social comparison &amp; consistency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55"/>
                </a:solidFill>
              </a:rPr>
              <a:t>-&gt; Desire formation grounding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997696" y="1389888"/>
            <a:ext cx="2788920" cy="5166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997696" y="1389888"/>
            <a:ext cx="2788920" cy="347472"/>
          </a:xfrm>
          <a:prstGeom prst="rect">
            <a:avLst/>
          </a:prstGeom>
          <a:solidFill>
            <a:srgbClr val="7B2D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07424" y="1435608"/>
            <a:ext cx="2606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Narrative &amp; Prior Systems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07424" y="1801368"/>
            <a:ext cx="2587751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300">
                <a:solidFill>
                  <a:srgbClr val="444455"/>
                </a:solidFill>
              </a:rPr>
              <a:t>Mateas &amp; Stern (2003)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55"/>
                </a:solidFill>
              </a:rPr>
              <a:t>Facade -- interactive drama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55"/>
                </a:solidFill>
              </a:rPr>
              <a:t>Closest prior system; compared directly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55"/>
                </a:solidFill>
              </a:rPr>
              <a:t/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55"/>
                </a:solidFill>
              </a:rPr>
              <a:t>Park et al. (2023)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55"/>
                </a:solidFill>
              </a:rPr>
              <a:t>Generative Agents (LLM NPCs)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55"/>
                </a:solidFill>
              </a:rPr>
              <a:t>Modern benchmark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55"/>
                </a:solidFill>
              </a:rPr>
              <a:t/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55"/>
                </a:solidFill>
              </a:rPr>
              <a:t>Murray (1997)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55"/>
                </a:solidFill>
              </a:rPr>
              <a:t>Hamlet on the Holodeck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55"/>
                </a:solidFill>
              </a:rPr>
              <a:t/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55"/>
                </a:solidFill>
              </a:rPr>
              <a:t>Gap: none combine structured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55"/>
                </a:solidFill>
              </a:rPr>
              <a:t>psychology with a local LLM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0D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88952" cy="54864"/>
          </a:xfrm>
          <a:prstGeom prst="rect">
            <a:avLst/>
          </a:prstGeom>
          <a:solidFill>
            <a:srgbClr val="2AB4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97864"/>
            <a:ext cx="12188952" cy="5660136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09728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Methodology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82296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AB4C4"/>
                </a:solidFill>
              </a:rPr>
              <a:t>Chapter 4: How the system was designed and tested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389888"/>
            <a:ext cx="5577840" cy="5166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389888"/>
            <a:ext cx="5577840" cy="347472"/>
          </a:xfrm>
          <a:prstGeom prst="rect">
            <a:avLst/>
          </a:prstGeom>
          <a:solidFill>
            <a:srgbClr val="1E6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1435608"/>
            <a:ext cx="539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Development Approach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1801368"/>
            <a:ext cx="5349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500">
                <a:solidFill>
                  <a:srgbClr val="444455"/>
                </a:solidFill>
              </a:rPr>
              <a:t>- Agile iterative development (logbook-documented sprints)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444455"/>
                </a:solidFill>
              </a:rPr>
              <a:t/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444455"/>
                </a:solidFill>
              </a:rPr>
              <a:t>- Each component built, tested, then integrated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444455"/>
                </a:solidFill>
              </a:rPr>
              <a:t/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444455"/>
                </a:solidFill>
              </a:rPr>
              <a:t>- 3 representative NPCs -- contrasting personality profiles: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444455"/>
                </a:solidFill>
              </a:rPr>
              <a:t>   Krakk  (high empathy, low assertion)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444455"/>
                </a:solidFill>
              </a:rPr>
              <a:t>   Moses  (max assertion, near-zero cognitive flexibility)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444455"/>
                </a:solidFill>
              </a:rPr>
              <a:t>   Troy   (low self-esteem, high assertion, zero independence)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444455"/>
                </a:solidFill>
              </a:rPr>
              <a:t/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444455"/>
                </a:solidFill>
              </a:rPr>
              <a:t>- Same scenario across all three: door_guard_night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444455"/>
                </a:solidFill>
              </a:rPr>
              <a:t/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444455"/>
                </a:solidFill>
              </a:rPr>
              <a:t>- No user studies -- internal state inspection as primary validation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444455"/>
                </a:solidFill>
              </a:rPr>
              <a:t/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444455"/>
                </a:solidFill>
              </a:rPr>
              <a:t>- Ethical: psychology constructs are design parameters,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444455"/>
                </a:solidFill>
              </a:rPr>
              <a:t>  not clinical representations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36792" y="1389888"/>
            <a:ext cx="5577840" cy="5166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36792" y="1389888"/>
            <a:ext cx="5577840" cy="347472"/>
          </a:xfrm>
          <a:prstGeom prst="rect">
            <a:avLst/>
          </a:prstGeom>
          <a:solidFill>
            <a:srgbClr val="1E6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1435608"/>
            <a:ext cx="539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Evaluation Strategy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3952" y="1801368"/>
            <a:ext cx="5349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500">
                <a:solidFill>
                  <a:srgbClr val="444455"/>
                </a:solidFill>
              </a:rPr>
              <a:t>Three evaluation questions: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444455"/>
                </a:solidFill>
              </a:rPr>
              <a:t/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444455"/>
                </a:solidFill>
              </a:rPr>
              <a:t>1. Does internal NPC state stay consistent turn to turn?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444455"/>
                </a:solidFill>
              </a:rPr>
              <a:t/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444455"/>
                </a:solidFill>
              </a:rPr>
              <a:t>2. Does the AI output match what the pipeline computed?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444455"/>
                </a:solidFill>
              </a:rPr>
              <a:t/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444455"/>
                </a:solidFill>
              </a:rPr>
              <a:t>3. Does the FSM route to the correct narrative outcome?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444455"/>
                </a:solidFill>
              </a:rPr>
              <a:t/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444455"/>
                </a:solidFill>
              </a:rPr>
              <a:t>- Cognitive layer tested independently (no AI needed)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444455"/>
                </a:solidFill>
              </a:rPr>
              <a:t>  -- deterministic, fully unit-testable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444455"/>
                </a:solidFill>
              </a:rPr>
              <a:t/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444455"/>
                </a:solidFill>
              </a:rPr>
              <a:t>- Full pipeline trace logged per conversation turn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444455"/>
                </a:solidFill>
              </a:rPr>
              <a:t/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444455"/>
                </a:solidFill>
              </a:rPr>
              <a:t>- Comparative player build test (Troy: Empathy vs Assertion)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444455"/>
                </a:solidFill>
              </a:rPr>
              <a:t>  to verify player agency is real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0D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88952" cy="54864"/>
          </a:xfrm>
          <a:prstGeom prst="rect">
            <a:avLst/>
          </a:prstGeom>
          <a:solidFill>
            <a:srgbClr val="2AB4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97864"/>
            <a:ext cx="12188952" cy="5660136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09728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Architecture  -  The PNE 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82296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AB4C4"/>
                </a:solidFill>
              </a:rPr>
              <a:t>Chapter 5: Seven stages from player input to NPC speech</a:t>
            </a:r>
          </a:p>
        </p:txBody>
      </p:sp>
      <p:pic>
        <p:nvPicPr>
          <p:cNvPr id="7" name="Picture 6" descr="PNE 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98448"/>
            <a:ext cx="8138160" cy="53492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8549640" y="1298448"/>
            <a:ext cx="3364992" cy="5349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549640" y="1298448"/>
            <a:ext cx="3364992" cy="347472"/>
          </a:xfrm>
          <a:prstGeom prst="rect">
            <a:avLst/>
          </a:prstGeom>
          <a:solidFill>
            <a:srgbClr val="0D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59367" y="1344168"/>
            <a:ext cx="31821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Stage Summary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1709928"/>
            <a:ext cx="3127248" cy="4828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200">
                <a:solidFill>
                  <a:srgbClr val="444455"/>
                </a:solidFill>
              </a:rPr>
              <a:t>I    NPC Intent Layer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444455"/>
                </a:solidFill>
              </a:rPr>
              <a:t>     Loads identity, goals, terminal endings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444455"/>
                </a:solidFill>
              </a:rPr>
              <a:t/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444455"/>
                </a:solidFill>
              </a:rPr>
              <a:t>II   Choice Selection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444455"/>
                </a:solidFill>
              </a:rPr>
              <a:t>     Player picks; tone is scored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444455"/>
                </a:solidFill>
              </a:rPr>
              <a:t/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444455"/>
                </a:solidFill>
              </a:rPr>
              <a:t>IIa  Skill Check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444455"/>
                </a:solidFill>
              </a:rPr>
              <a:t>     2 biased dice: player vs NPC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444455"/>
                </a:solidFill>
              </a:rPr>
              <a:t/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444455"/>
                </a:solidFill>
              </a:rPr>
              <a:t>III  Cognitive Interpretation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444455"/>
                </a:solidFill>
              </a:rPr>
              <a:t>     NPC forms an internal belief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444455"/>
                </a:solidFill>
              </a:rPr>
              <a:t/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444455"/>
                </a:solidFill>
              </a:rPr>
              <a:t>IV   Desire Formation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444455"/>
                </a:solidFill>
              </a:rPr>
              <a:t>     Belief -&gt; goal type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444455"/>
                </a:solidFill>
              </a:rPr>
              <a:t/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444455"/>
                </a:solidFill>
              </a:rPr>
              <a:t>V    Socialisation Filter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444455"/>
                </a:solidFill>
              </a:rPr>
              <a:t>     Goal -&gt; named behaviour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444455"/>
                </a:solidFill>
              </a:rPr>
              <a:t/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444455"/>
                </a:solidFill>
              </a:rPr>
              <a:t>VI   Conversational Output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444455"/>
                </a:solidFill>
              </a:rPr>
              <a:t>     Ollama generates the spoken text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0D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88952" cy="54864"/>
          </a:xfrm>
          <a:prstGeom prst="rect">
            <a:avLst/>
          </a:prstGeom>
          <a:solidFill>
            <a:srgbClr val="2AB4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97864"/>
            <a:ext cx="12188952" cy="5660136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09728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Architecture  -  Key Innovations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82296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AB4C4"/>
                </a:solidFill>
              </a:rPr>
              <a:t>Chapter 5: What makes the PNE different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371600"/>
            <a:ext cx="5623560" cy="228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371600"/>
            <a:ext cx="5623560" cy="347472"/>
          </a:xfrm>
          <a:prstGeom prst="rect">
            <a:avLst/>
          </a:prstGeom>
          <a:solidFill>
            <a:srgbClr val="0D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1417320"/>
            <a:ext cx="5440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CognitiveThoughtMatcher  --  no AI in the reasoning layer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371600"/>
            <a:ext cx="73152" cy="2286000"/>
          </a:xfrm>
          <a:prstGeom prst="rect">
            <a:avLst/>
          </a:prstGeom>
          <a:solidFill>
            <a:srgbClr val="2AB4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783080"/>
            <a:ext cx="534924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300">
                <a:solidFill>
                  <a:srgbClr val="444455"/>
                </a:solidFill>
              </a:rPr>
              <a:t>810 scored thought templates matched against player tone + NPC personality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55"/>
                </a:solidFill>
              </a:rPr>
              <a:t>Produces: internal thought, belief, emotional reaction, cognitive bias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55"/>
                </a:solidFill>
              </a:rPr>
              <a:t>Fully deterministic and unit-testable -- AI kept entirely out of this layer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55"/>
                </a:solidFill>
              </a:rPr>
              <a:t>Two NPCs with different profiles -&gt; provably different thoughts, same input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08192" y="1371600"/>
            <a:ext cx="5623560" cy="228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08192" y="1371600"/>
            <a:ext cx="5623560" cy="347472"/>
          </a:xfrm>
          <a:prstGeom prst="rect">
            <a:avLst/>
          </a:prstGeom>
          <a:solidFill>
            <a:srgbClr val="1E6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0" y="1417320"/>
            <a:ext cx="5440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2-Dice Probabilistic Skill Check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08192" y="1371600"/>
            <a:ext cx="73152" cy="2286000"/>
          </a:xfrm>
          <a:prstGeom prst="rect">
            <a:avLst/>
          </a:prstGeom>
          <a:solidFill>
            <a:srgbClr val="2AB4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91072" y="1783080"/>
            <a:ext cx="534924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300">
                <a:solidFill>
                  <a:srgbClr val="444455"/>
                </a:solidFill>
              </a:rPr>
              <a:t>Player + NPC each roll a biased d6 -- player wins on a tie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55"/>
                </a:solidFill>
              </a:rPr>
              <a:t>Bias derived from player skill level and NPC resistance threshold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55"/>
                </a:solidFill>
              </a:rPr>
              <a:t>success_pct shown before each choice so players can weigh risk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55"/>
                </a:solidFill>
              </a:rPr>
              <a:t>Failed paths permanently pruned -- raises genuine, lasting stakes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3867912"/>
            <a:ext cx="5623560" cy="228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74320" y="3867912"/>
            <a:ext cx="5623560" cy="347472"/>
          </a:xfrm>
          <a:prstGeom prst="rect">
            <a:avLst/>
          </a:prstGeom>
          <a:solidFill>
            <a:srgbClr val="1A7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4048" y="3913632"/>
            <a:ext cx="5440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Judgement-Score Finite State Machine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3867912"/>
            <a:ext cx="73152" cy="2286000"/>
          </a:xfrm>
          <a:prstGeom prst="rect">
            <a:avLst/>
          </a:prstGeom>
          <a:solidFill>
            <a:srgbClr val="2AB4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4279392"/>
            <a:ext cx="534924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300">
                <a:solidFill>
                  <a:srgbClr val="444455"/>
                </a:solidFill>
              </a:rPr>
              <a:t>0-100 scalar aggregated across all turns -- routes narrative independently of AI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55"/>
                </a:solidFill>
              </a:rPr>
              <a:t>Risk multiplier: bold low-probability choices carry amplified consequences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55"/>
                </a:solidFill>
              </a:rPr>
              <a:t>FSM uses judgement score + relation score -- not raw AI text classification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55"/>
                </a:solidFill>
              </a:rPr>
              <a:t>Narrative destination is predictable and author-controlled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08192" y="3867912"/>
            <a:ext cx="5623560" cy="228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08192" y="3867912"/>
            <a:ext cx="5623560" cy="347472"/>
          </a:xfrm>
          <a:prstGeom prst="rect">
            <a:avLst/>
          </a:prstGeom>
          <a:solidFill>
            <a:srgbClr val="7B2D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17920" y="3913632"/>
            <a:ext cx="5440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Game-Engine Agnostic API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08192" y="3867912"/>
            <a:ext cx="73152" cy="2286000"/>
          </a:xfrm>
          <a:prstGeom prst="rect">
            <a:avLst/>
          </a:prstGeom>
          <a:solidFill>
            <a:srgbClr val="2AB4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91072" y="4279392"/>
            <a:ext cx="534924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300">
                <a:solidFill>
                  <a:srgbClr val="444455"/>
                </a:solidFill>
              </a:rPr>
              <a:t>FastAPI REST + WebSocket -- Unity, Godot, Unreal can all connect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55"/>
                </a:solidFill>
              </a:rPr>
              <a:t>AI tokens streamed word-by-word via WebSocket for real-time feel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55"/>
                </a:solidFill>
              </a:rPr>
              <a:t>Drop-in C# client (Unity) and GDScript client (Godot) provided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55"/>
                </a:solidFill>
              </a:rPr>
              <a:t>No cloud dependency -- fully offline, zero per-request cost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0D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88952" cy="54864"/>
          </a:xfrm>
          <a:prstGeom prst="rect">
            <a:avLst/>
          </a:prstGeom>
          <a:solidFill>
            <a:srgbClr val="2AB4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97864"/>
            <a:ext cx="12188952" cy="5660136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09728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82296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AB4C4"/>
                </a:solidFill>
              </a:rPr>
              <a:t>Chapter 6: Three NPCs, same scenario  --  door_guard_night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353312"/>
            <a:ext cx="9235440" cy="621792"/>
          </a:xfrm>
          <a:prstGeom prst="rect">
            <a:avLst/>
          </a:prstGeom>
          <a:solidFill>
            <a:srgbClr val="0D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426464"/>
            <a:ext cx="12161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NPC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73352" y="1426464"/>
            <a:ext cx="4050791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Personality Profile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33872" y="1426464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Opening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79792" y="1426464"/>
            <a:ext cx="6675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Turns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57031" y="1426464"/>
            <a:ext cx="12161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Result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1975104"/>
            <a:ext cx="923544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72" y="2048256"/>
            <a:ext cx="12161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55"/>
                </a:solidFill>
              </a:rPr>
              <a:t>Krakk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73352" y="2048256"/>
            <a:ext cx="4050791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55"/>
                </a:solidFill>
              </a:rPr>
              <a:t>High empathy (0.8), low assertion (0.3)
Inferiority wildcard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33872" y="2048256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55"/>
                </a:solidFill>
              </a:rPr>
              <a:t>Diplomatic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79792" y="2048256"/>
            <a:ext cx="6675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55"/>
                </a:solidFill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57031" y="2048256"/>
            <a:ext cx="12161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7A5E"/>
                </a:solidFill>
              </a:rPr>
              <a:t>SUCCEED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2596896"/>
            <a:ext cx="9235440" cy="621792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7472" y="2670048"/>
            <a:ext cx="12161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55"/>
                </a:solidFill>
              </a:rPr>
              <a:t>Moses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73352" y="2670048"/>
            <a:ext cx="4050791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55"/>
                </a:solidFill>
              </a:rPr>
              <a:t>Max assertion (1.0), low cog. flex (0.3)
Martyr wildcard x2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33872" y="2670048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55"/>
                </a:solidFill>
              </a:rPr>
              <a:t>Authority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79792" y="2670048"/>
            <a:ext cx="6675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55"/>
                </a:solidFill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57031" y="2670048"/>
            <a:ext cx="12161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7A5E"/>
                </a:solidFill>
              </a:rPr>
              <a:t>SUCCEED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3218688"/>
            <a:ext cx="923544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47472" y="3291840"/>
            <a:ext cx="12161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55"/>
                </a:solidFill>
              </a:rPr>
              <a:t>Troy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73352" y="3291840"/>
            <a:ext cx="4050791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55"/>
                </a:solidFill>
              </a:rPr>
              <a:t>Low self-esteem (0.2), high assertion (0.8)
No wildcard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33872" y="32918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55"/>
                </a:solidFill>
              </a:rPr>
              <a:t>Authority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79792" y="3291840"/>
            <a:ext cx="6675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55"/>
                </a:solidFill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57031" y="3291840"/>
            <a:ext cx="12161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2222"/>
                </a:solidFill>
              </a:rPr>
              <a:t>FAIL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" y="3840480"/>
            <a:ext cx="9235440" cy="621792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47472" y="3913632"/>
            <a:ext cx="12161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55"/>
                </a:solidFill>
              </a:rPr>
              <a:t>Troy (alt)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673352" y="3913632"/>
            <a:ext cx="4050791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55"/>
                </a:solidFill>
              </a:rPr>
              <a:t>Same NPC -- Empathy build player skills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33872" y="3913632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55"/>
                </a:solidFill>
              </a:rPr>
              <a:t>Empathy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79792" y="3913632"/>
            <a:ext cx="6675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55"/>
                </a:solidFill>
              </a:rPr>
              <a:t>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57031" y="3913632"/>
            <a:ext cx="12161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7A5E"/>
                </a:solidFill>
              </a:rPr>
              <a:t>SUCCEED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4320" y="4572000"/>
            <a:ext cx="3657600" cy="20299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74320" y="4572000"/>
            <a:ext cx="3657600" cy="292608"/>
          </a:xfrm>
          <a:prstGeom prst="rect">
            <a:avLst/>
          </a:prstGeom>
          <a:solidFill>
            <a:srgbClr val="2AB4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11479" y="4590288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Pipeline Coherence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160520" y="4572000"/>
            <a:ext cx="3657600" cy="20299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160520" y="4572000"/>
            <a:ext cx="3657600" cy="292608"/>
          </a:xfrm>
          <a:prstGeom prst="rect">
            <a:avLst/>
          </a:prstGeom>
          <a:solidFill>
            <a:srgbClr val="2AB4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297680" y="4590288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Player Agency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046720" y="4572000"/>
            <a:ext cx="3657600" cy="20299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046720" y="4572000"/>
            <a:ext cx="3657600" cy="292608"/>
          </a:xfrm>
          <a:prstGeom prst="rect">
            <a:avLst/>
          </a:prstGeom>
          <a:solidFill>
            <a:srgbClr val="2AB4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183880" y="4590288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Coherence Gap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1480" y="4892040"/>
            <a:ext cx="342900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200">
                <a:solidFill>
                  <a:srgbClr val="444455"/>
                </a:solidFill>
              </a:rPr>
              <a:t>Internal state consistent across all turns for all 3 NPCs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444455"/>
                </a:solidFill>
              </a:rPr>
              <a:t>Cognitive bias correctly shaped desire type every case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444455"/>
                </a:solidFill>
              </a:rPr>
              <a:t>Moses Martyr wildcard fired and held across turns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97680" y="4892040"/>
            <a:ext cx="342900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200">
                <a:solidFill>
                  <a:srgbClr val="444455"/>
                </a:solidFill>
              </a:rPr>
              <a:t>Troy Empathy build -&gt; SUCCEED in 2 turns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444455"/>
                </a:solidFill>
              </a:rPr>
              <a:t>Troy Assertion build -&gt; FAIL at turn 3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444455"/>
                </a:solidFill>
              </a:rPr>
              <a:t>Outcome driven by skill distribution, not choice text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183879" y="4892040"/>
            <a:ext cx="342900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200">
                <a:solidFill>
                  <a:srgbClr val="444455"/>
                </a:solidFill>
              </a:rPr>
              <a:t>Moses turn 3: pipeline said explosive / confrontation 0.978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444455"/>
                </a:solidFill>
              </a:rPr>
              <a:t>LLM produced a more moderate response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444455"/>
                </a:solidFill>
              </a:rPr>
              <a:t>Pipeline logic correct -- LLM did not express full intensity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0D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88952" cy="54864"/>
          </a:xfrm>
          <a:prstGeom prst="rect">
            <a:avLst/>
          </a:prstGeom>
          <a:solidFill>
            <a:srgbClr val="2AB4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97864"/>
            <a:ext cx="12188952" cy="5660136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09728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Discussion &amp; Analysis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82296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AB4C4"/>
                </a:solidFill>
              </a:rPr>
              <a:t>Chapter 7: What the results tell us -- and where the limits are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389888"/>
            <a:ext cx="5577840" cy="5166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389888"/>
            <a:ext cx="5577840" cy="347472"/>
          </a:xfrm>
          <a:prstGeom prst="rect">
            <a:avLst/>
          </a:prstGeom>
          <a:solidFill>
            <a:srgbClr val="1A7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1435608"/>
            <a:ext cx="539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What Worked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1801368"/>
            <a:ext cx="5349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500">
                <a:solidFill>
                  <a:srgbClr val="444455"/>
                </a:solidFill>
              </a:rPr>
              <a:t>BDI pipeline produces psychologically coherent NPC behaviour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444455"/>
                </a:solidFill>
              </a:rPr>
              <a:t>without requiring the AI to reason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444455"/>
                </a:solidFill>
              </a:rPr>
              <a:t/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444455"/>
                </a:solidFill>
              </a:rPr>
              <a:t>Separating cognition from language generation works: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444455"/>
                </a:solidFill>
              </a:rPr>
              <a:t>  reasoning is deterministic and testable;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444455"/>
                </a:solidFill>
              </a:rPr>
              <a:t>  speech is constrained by 19 canonical intentions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444455"/>
                </a:solidFill>
              </a:rPr>
              <a:t/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444455"/>
                </a:solidFill>
              </a:rPr>
              <a:t>Personality parameters meaningfully differentiate NPCs --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444455"/>
                </a:solidFill>
              </a:rPr>
              <a:t>Krakk, Moses and Troy behave exactly as their profiles predict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444455"/>
                </a:solidFill>
              </a:rPr>
              <a:t/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444455"/>
                </a:solidFill>
              </a:rPr>
              <a:t>Player agency is real: skill distribution determines terminal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444455"/>
                </a:solidFill>
              </a:rPr>
              <a:t>routing, not just which words the player chose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444455"/>
                </a:solidFill>
              </a:rPr>
              <a:t/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444455"/>
                </a:solidFill>
              </a:rPr>
              <a:t>Local AI (Qwen2.5:3b) is viable for real-time dialogue on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444455"/>
                </a:solidFill>
              </a:rPr>
              <a:t>consumer hardware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444455"/>
                </a:solidFill>
              </a:rPr>
              <a:t/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444455"/>
                </a:solidFill>
              </a:rPr>
              <a:t>Research question answered: Yes -- psychological realism,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444455"/>
                </a:solidFill>
              </a:rPr>
              <a:t>narrative coherence, and player agency can coexist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36792" y="1389888"/>
            <a:ext cx="5577840" cy="5166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36792" y="1389888"/>
            <a:ext cx="5577840" cy="347472"/>
          </a:xfrm>
          <a:prstGeom prst="rect">
            <a:avLst/>
          </a:prstGeom>
          <a:solidFill>
            <a:srgbClr val="B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1435608"/>
            <a:ext cx="539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Limitations &amp; Honest Critique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3952" y="1801368"/>
            <a:ext cx="5349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500">
                <a:solidFill>
                  <a:srgbClr val="444455"/>
                </a:solidFill>
              </a:rPr>
              <a:t>AI coherence gap: model under-expressed intensity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444455"/>
                </a:solidFill>
              </a:rPr>
              <a:t>on Moses turn 3 despite identical pipeline state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444455"/>
                </a:solidFill>
              </a:rPr>
              <a:t/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444455"/>
                </a:solidFill>
              </a:rPr>
              <a:t>Wildcard system partially implemented -- complex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444455"/>
                </a:solidFill>
              </a:rPr>
              <a:t>multi-turn wildcard interactions not fully tested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444455"/>
                </a:solidFill>
              </a:rPr>
              <a:t/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444455"/>
                </a:solidFill>
              </a:rPr>
              <a:t>Logging gap: some internal transitions not persisted,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444455"/>
                </a:solidFill>
              </a:rPr>
              <a:t>limiting post-hoc analysis depth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444455"/>
                </a:solidFill>
              </a:rPr>
              <a:t/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444455"/>
                </a:solidFill>
              </a:rPr>
              <a:t>Narrow scenario coverage -- one scenario, three NPCs;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444455"/>
                </a:solidFill>
              </a:rPr>
              <a:t>generalisation claims are bounded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444455"/>
                </a:solidFill>
              </a:rPr>
              <a:t/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444455"/>
                </a:solidFill>
              </a:rPr>
              <a:t>4-6 GB VRAM requirement excludes low-spec hardware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444455"/>
                </a:solidFill>
              </a:rPr>
              <a:t>and mobile devices entirely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444455"/>
                </a:solidFill>
              </a:rPr>
              <a:t/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444455"/>
                </a:solidFill>
              </a:rPr>
              <a:t>Future validation needed across broader scenario types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444455"/>
                </a:solidFill>
              </a:rPr>
              <a:t>and larger NPC casts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0D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88952" cy="54864"/>
          </a:xfrm>
          <a:prstGeom prst="rect">
            <a:avLst/>
          </a:prstGeom>
          <a:solidFill>
            <a:srgbClr val="2AB4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97864"/>
            <a:ext cx="12188952" cy="5660136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09728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Conclusion &amp; Future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82296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AB4C4"/>
                </a:solidFill>
              </a:rPr>
              <a:t>Chapter 8: What was achieved -- and where next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389888"/>
            <a:ext cx="5577840" cy="5166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389888"/>
            <a:ext cx="5577840" cy="347472"/>
          </a:xfrm>
          <a:prstGeom prst="rect">
            <a:avLst/>
          </a:prstGeom>
          <a:solidFill>
            <a:srgbClr val="0D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1435608"/>
            <a:ext cx="539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Conclusion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1801368"/>
            <a:ext cx="5349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500">
                <a:solidFill>
                  <a:srgbClr val="444455"/>
                </a:solidFill>
              </a:rPr>
              <a:t>The PNE demonstrates that a BDI pipeline + psychology-grounded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444455"/>
                </a:solidFill>
              </a:rPr>
              <a:t>personality model + constrained local AI is a viable architecture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444455"/>
                </a:solidFill>
              </a:rPr>
              <a:t>for adaptive NPC dialogue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444455"/>
                </a:solidFill>
              </a:rPr>
              <a:t/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444455"/>
                </a:solidFill>
              </a:rPr>
              <a:t>NPCs can think deterministically and speak naturally --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444455"/>
                </a:solidFill>
              </a:rPr>
              <a:t>without pre-authored lines and without cloud infrastructure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444455"/>
                </a:solidFill>
              </a:rPr>
              <a:t/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444455"/>
                </a:solidFill>
              </a:rPr>
              <a:t>The system is game-engine agnostic, open-source, and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444455"/>
                </a:solidFill>
              </a:rPr>
              <a:t>deployable on mid-range consumer hardware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444455"/>
                </a:solidFill>
              </a:rPr>
              <a:t/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444455"/>
                </a:solidFill>
              </a:rPr>
              <a:t>Key contribution: the CognitiveThoughtMatcher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444455"/>
                </a:solidFill>
              </a:rPr>
              <a:t>An AI-free, testable cognitive interpretation layer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444455"/>
                </a:solidFill>
              </a:rPr>
              <a:t>grounded in Ellis (1962), Heider (1958), Davis (1983)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444455"/>
                </a:solidFill>
              </a:rPr>
              <a:t/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444455"/>
                </a:solidFill>
              </a:rPr>
              <a:t>Practical impact: enables indie developers to author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444455"/>
                </a:solidFill>
              </a:rPr>
              <a:t>psychologically rich NPC dialogue at a fraction of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444455"/>
                </a:solidFill>
              </a:rPr>
              <a:t>traditional authorial cost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36792" y="1389888"/>
            <a:ext cx="5577840" cy="5166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36792" y="1389888"/>
            <a:ext cx="5577840" cy="347472"/>
          </a:xfrm>
          <a:prstGeom prst="rect">
            <a:avLst/>
          </a:prstGeom>
          <a:solidFill>
            <a:srgbClr val="1E6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1435608"/>
            <a:ext cx="539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Future Work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3952" y="1801368"/>
            <a:ext cx="5349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500">
                <a:solidFill>
                  <a:srgbClr val="444455"/>
                </a:solidFill>
              </a:rPr>
              <a:t>Multi-level mentalising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444455"/>
                </a:solidFill>
              </a:rPr>
              <a:t>  NPCs that model what the player believes about the NPC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444455"/>
                </a:solidFill>
              </a:rPr>
              <a:t/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444455"/>
                </a:solidFill>
              </a:rPr>
              <a:t>Persistent NPC memory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444455"/>
                </a:solidFill>
              </a:rPr>
              <a:t>  Relationship history that carries across sessions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444455"/>
                </a:solidFill>
              </a:rPr>
              <a:t/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444455"/>
                </a:solidFill>
              </a:rPr>
              <a:t>Multi-NPC interaction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444455"/>
                </a:solidFill>
              </a:rPr>
              <a:t>  NPCs that react to each other, not just to the player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444455"/>
                </a:solidFill>
              </a:rPr>
              <a:t/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444455"/>
                </a:solidFill>
              </a:rPr>
              <a:t>Expanded scenario coverage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444455"/>
                </a:solidFill>
              </a:rPr>
              <a:t>  Full story arcs, not just single-node scenarios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444455"/>
                </a:solidFill>
              </a:rPr>
              <a:t/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444455"/>
                </a:solidFill>
              </a:rPr>
              <a:t>Larger AI evaluation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444455"/>
                </a:solidFill>
              </a:rPr>
              <a:t>  Quantify coherence gap across model sizes (3B -&gt; 13B)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444455"/>
                </a:solidFill>
              </a:rPr>
              <a:t/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444455"/>
                </a:solidFill>
              </a:rPr>
              <a:t>Player-facing transparency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444455"/>
                </a:solidFill>
              </a:rPr>
              <a:t>  UI that shows NPC emotional state in real time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0D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88952" cy="54864"/>
          </a:xfrm>
          <a:prstGeom prst="rect">
            <a:avLst/>
          </a:prstGeom>
          <a:solidFill>
            <a:srgbClr val="2AB4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97864"/>
            <a:ext cx="12188952" cy="5660136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09728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References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82296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AB4C4"/>
                </a:solidFill>
              </a:rPr>
              <a:t>Key sources cited in this presentation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1353312"/>
            <a:ext cx="5943600" cy="5349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300">
                <a:solidFill>
                  <a:srgbClr val="444455"/>
                </a:solidFill>
              </a:rPr>
              <a:t>Bratman, M. (1987) Intention, plans, and practical reason.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55"/>
                </a:solidFill>
              </a:rPr>
              <a:t>  Cambridge, MA: Harvard University Press.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55"/>
                </a:solidFill>
              </a:rPr>
              <a:t/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55"/>
                </a:solidFill>
              </a:rPr>
              <a:t>Rao, A.S. &amp; Georgeff, M.P. (1995) 'BDI agents: from theory to practice'.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55"/>
                </a:solidFill>
              </a:rPr>
              <a:t>  Proc. ICMAS-95. Menlo Park: AAAI Press, pp. 312-319.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55"/>
                </a:solidFill>
              </a:rPr>
              <a:t/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55"/>
                </a:solidFill>
              </a:rPr>
              <a:t>Georgeff, M. et al. (1999) 'The BDI model of agency'.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55"/>
                </a:solidFill>
              </a:rPr>
              <a:t>  Intelligent Agents V, LNCS 1555. Berlin: Springer, pp. 1-10.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55"/>
                </a:solidFill>
              </a:rPr>
              <a:t/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55"/>
                </a:solidFill>
              </a:rPr>
              <a:t>Mateas, M. &amp; Stern, A. (2003) 'Facade'.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55"/>
                </a:solidFill>
              </a:rPr>
              <a:t>  Proc. Game Developers Conference, San Jose, CA.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55"/>
                </a:solidFill>
              </a:rPr>
              <a:t/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55"/>
                </a:solidFill>
              </a:rPr>
              <a:t>Park, J.S. et al. (2023) 'Generative agents'.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55"/>
                </a:solidFill>
              </a:rPr>
              <a:t>  Proc. UIST '23. New York: ACM.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1353312"/>
            <a:ext cx="5577840" cy="5349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300">
                <a:solidFill>
                  <a:srgbClr val="444455"/>
                </a:solidFill>
              </a:rPr>
              <a:t>Ellis, A. (1962) Reason and emotion in psychotherapy.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55"/>
                </a:solidFill>
              </a:rPr>
              <a:t>  New York: Lyle Stuart.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55"/>
                </a:solidFill>
              </a:rPr>
              <a:t/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55"/>
                </a:solidFill>
              </a:rPr>
              <a:t>Heider, F. (1958) The psychology of interpersonal relations.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55"/>
                </a:solidFill>
              </a:rPr>
              <a:t>  New York: Wiley.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55"/>
                </a:solidFill>
              </a:rPr>
              <a:t/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55"/>
                </a:solidFill>
              </a:rPr>
              <a:t>Davis, M.H. (1983) 'Measuring individual differences in empathy'.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55"/>
                </a:solidFill>
              </a:rPr>
              <a:t>  J. Personality &amp; Social Psychology, 44(1), pp. 113-126.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55"/>
                </a:solidFill>
              </a:rPr>
              <a:t/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55"/>
                </a:solidFill>
              </a:rPr>
              <a:t>Cialdini, R.B. (1984) Influence: the psychology of persuasion.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55"/>
                </a:solidFill>
              </a:rPr>
              <a:t>  New York: Harper Collins.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55"/>
                </a:solidFill>
              </a:rPr>
              <a:t/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55"/>
                </a:solidFill>
              </a:rPr>
              <a:t>Murray, J.H. (1997) Hamlet on the Holodeck.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55"/>
                </a:solidFill>
              </a:rPr>
              <a:t>  New York: Free Press.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