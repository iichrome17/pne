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6" r:id="rId17"/>
    <p:sldId id="267" r:id="rId18"/>
    <p:sldId id="268" r:id="rId19"/>
    <p:sldId id="261" r:id="rId12"/>
    <p:sldId id="262" r:id="rId13"/>
    <p:sldId id="269" r:id="rId20"/>
    <p:sldId id="270" r:id="rId21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0"/>
            <a:ext cx="73152" cy="6858000"/>
          </a:xfrm>
          <a:prstGeom prst="rect">
            <a:avLst/>
          </a:prstGeom>
          <a:solidFill>
            <a:srgbClr val="2A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45152" y="0"/>
            <a:ext cx="75438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822960"/>
            <a:ext cx="4023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Psychological
Narrative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38328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2AB4C4"/>
                </a:solidFill>
              </a:rPr>
              <a:t>PNE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93776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6F9"/>
                </a:solidFill>
              </a:rPr>
              <a:t>Jerome Bawa  |  CS3IP Individual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321808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6F9"/>
                </a:solidFill>
              </a:rPr>
              <a:t>University of Reading  |  2025-26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0" y="1097280"/>
            <a:ext cx="676656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0640" y="1097280"/>
            <a:ext cx="6766560" cy="411480"/>
          </a:xfrm>
          <a:prstGeom prst="rect">
            <a:avLst/>
          </a:prstGeom>
          <a:solidFill>
            <a:srgbClr val="1E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800" y="1143000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Project at a Glance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1572768"/>
            <a:ext cx="649224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400">
                <a:solidFill>
                  <a:srgbClr val="444455"/>
                </a:solidFill>
              </a:rPr>
              <a:t>Problem:  NPC dialogue in games is scripted, static, psychologically hollow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444455"/>
                </a:solidFill>
              </a:rPr>
              <a:t>Solution:  A BDI pipeline that makes NPCs think before they speak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444455"/>
                </a:solidFill>
              </a:rPr>
              <a:t>How:  Cognition is deterministic (no AI) -&gt; local AI speaks the result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444455"/>
                </a:solidFill>
              </a:rPr>
              <a:t>What:  Beliefs, Desires, Intentions -- no pre-written lines needed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444455"/>
                </a:solidFill>
              </a:rPr>
              <a:t>Where:  Game-engine agnostic REST + WebSocket API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444455"/>
                </a:solidFill>
              </a:rPr>
              <a:t>         Plug into Unity, Godot, Unreal Engine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444455"/>
                </a:solidFill>
              </a:rPr>
              <a:t>Who:  Indie and mid-scale developers on consumer hardware (4-6 GB VRAM)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2A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Introduction  -  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229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AB4C4"/>
                </a:solidFill>
              </a:rPr>
              <a:t>Chapter 1: Why dialogue trees are not enough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53312"/>
            <a:ext cx="11640312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53312"/>
            <a:ext cx="82296" cy="1024128"/>
          </a:xfrm>
          <a:prstGeom prst="rect">
            <a:avLst/>
          </a:prstGeom>
          <a:solidFill>
            <a:srgbClr val="2A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39903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44455"/>
                </a:solidFill>
              </a:rPr>
              <a:t>"NPCs in scripted systems do not hold beliefs or form intentions -- they evaluate conditions and return pre-written strings. The apparent depth of a well-written branching tree is purely a product of human authorship, not of any computational model of mind."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468880"/>
            <a:ext cx="5577840" cy="4160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468880"/>
            <a:ext cx="5577840" cy="347472"/>
          </a:xfrm>
          <a:prstGeom prst="rect">
            <a:avLst/>
          </a:prstGeom>
          <a:solidFill>
            <a:srgbClr val="1E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2514600"/>
            <a:ext cx="539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The Status Quo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880360"/>
            <a:ext cx="5349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- The dialogue tree has dominated NPC interaction for 30+ years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- Every response is pre-authored -- developers write every word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- Scaling is expensive: more NPCs = proportionally more writing,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  QA, and voice acting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- NPCs pattern-match player choices -- they do not reason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- Disco Elysium (2019) showed emergent narrative is possible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  -- but only on the player side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36792" y="2468880"/>
            <a:ext cx="5577840" cy="4160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36792" y="2468880"/>
            <a:ext cx="5577840" cy="347472"/>
          </a:xfrm>
          <a:prstGeom prst="rect">
            <a:avLst/>
          </a:prstGeom>
          <a:solidFill>
            <a:srgbClr val="1E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514600"/>
            <a:ext cx="539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The Research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880360"/>
            <a:ext cx="5349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- Can an NPC hold an internal model of the world and respond from it?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- Can psychological depth and player agency coexist?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- Can cognition be separated from text generation?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The PNE answers: Yes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-&gt; Build a cognitive pipeline that thinks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   then let a local AI speak the result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Target: indie/mid-scale developers, consumer hardware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2A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Literature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229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AB4C4"/>
                </a:solidFill>
              </a:rPr>
              <a:t>Chapter 3: Four bodies of work that shape the PNE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89888"/>
            <a:ext cx="278892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89888"/>
            <a:ext cx="2788920" cy="347472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435608"/>
            <a:ext cx="2606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BDI Agent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801368"/>
            <a:ext cx="2587751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Bratman (1987)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Beliefs -&gt; Desires -&gt; Intentions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Foundation of the entire pipeline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Rao &amp; Georgeff (1995)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BDI from theory to practice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Georgeff et al. (1999)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Formal BDI model of agency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-&gt; Every pipeline stage maps directly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   to BDI theory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82111" y="1389888"/>
            <a:ext cx="278892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82111" y="1389888"/>
            <a:ext cx="2788920" cy="347472"/>
          </a:xfrm>
          <a:prstGeom prst="rect">
            <a:avLst/>
          </a:prstGeom>
          <a:solidFill>
            <a:srgbClr val="1E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39" y="1435608"/>
            <a:ext cx="2606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Cognitive Psychology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39" y="1801368"/>
            <a:ext cx="2587751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Ellis (1962)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A-B-C: events filtered through beliefs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-&gt; Cognitive bias library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Neisser (1967)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Cognition is constructive, not retrieval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-&gt; Thought-pattern templates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Heider (1958)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Attribution theory + locus of control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-&gt; NPC personality parameter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9903" y="1389888"/>
            <a:ext cx="278892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9903" y="1389888"/>
            <a:ext cx="2788920" cy="347472"/>
          </a:xfrm>
          <a:prstGeom prst="rect">
            <a:avLst/>
          </a:prstGeom>
          <a:solidFill>
            <a:srgbClr val="1A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9631" y="1435608"/>
            <a:ext cx="2606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Social Psychology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9631" y="1801368"/>
            <a:ext cx="2587751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Cialdini (1984)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Six principles of persuasion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-&gt; Tone scoring system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Davis (1983)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Empathy as measurable dimension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-&gt; Empathy NPC attribute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Festinger (1954)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Social comparison &amp; consistency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-&gt; Desire formation grounding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97696" y="1389888"/>
            <a:ext cx="278892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97696" y="1389888"/>
            <a:ext cx="2788920" cy="347472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07424" y="1435608"/>
            <a:ext cx="2606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Narrative &amp; Prior Systems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7424" y="1801368"/>
            <a:ext cx="2587751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Mateas &amp; Stern (2003)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Facade -- interactive drama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Closest prior system; compared directly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Park et al. (2023)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Generative Agents (LLM NPCs)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Modern benchmark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Murray (1997)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Hamlet on the Holodeck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Gap: none combine structured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psychology with a local LLM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2A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229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AB4C4"/>
                </a:solidFill>
              </a:rPr>
              <a:t>Chapter 4: How the system was designed and tested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89888"/>
            <a:ext cx="557784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89888"/>
            <a:ext cx="5577840" cy="347472"/>
          </a:xfrm>
          <a:prstGeom prst="rect">
            <a:avLst/>
          </a:prstGeom>
          <a:solidFill>
            <a:srgbClr val="1E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435608"/>
            <a:ext cx="539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Development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01368"/>
            <a:ext cx="5349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- Agile iterative development (logbook-documented sprints)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- Each component built, tested, then integrated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- 3 representative NPCs -- contrasting personality profiles: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   Krakk  (high empathy, low assertion)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   Moses  (max assertion, near-zero cognitive flexibility)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   Troy   (low self-esteem, high assertion, zero independence)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- Same scenario across all three: door_guard_night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- No user studies -- internal state inspection as primary validation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- Ethical: psychology constructs are design parameters,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  not clinical representations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36792" y="1389888"/>
            <a:ext cx="557784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36792" y="1389888"/>
            <a:ext cx="5577840" cy="347472"/>
          </a:xfrm>
          <a:prstGeom prst="rect">
            <a:avLst/>
          </a:prstGeom>
          <a:solidFill>
            <a:srgbClr val="1E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435608"/>
            <a:ext cx="539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Evaluation Strategy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1801368"/>
            <a:ext cx="5349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Three evaluation questions: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1. Does internal NPC state stay consistent turn to turn?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2. Does the AI output match what the pipeline computed?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3. Does the FSM route to the correct narrative outcome?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- Cognitive layer tested independently (no AI needed)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  -- deterministic, fully unit-testable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- Full pipeline trace logged per conversation turn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- Comparative player build test (Troy: Empathy vs Assertion)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  to verify player agency is real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2A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Architecture  -  The PNE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229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AB4C4"/>
                </a:solidFill>
              </a:rPr>
              <a:t>Chapter 5: Seven stages from player input to NPC speech</a:t>
            </a:r>
          </a:p>
        </p:txBody>
      </p:sp>
      <p:pic>
        <p:nvPicPr>
          <p:cNvPr id="7" name="Picture 6" descr="PNE 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98448"/>
            <a:ext cx="8138160" cy="53492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549640" y="1298448"/>
            <a:ext cx="3364992" cy="5349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49640" y="1298448"/>
            <a:ext cx="3364992" cy="347472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59367" y="1344168"/>
            <a:ext cx="3182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Stage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709928"/>
            <a:ext cx="3127248" cy="4828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444455"/>
                </a:solidFill>
              </a:rPr>
              <a:t>I    NPC Intent Layer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55"/>
                </a:solidFill>
              </a:rPr>
              <a:t>     Loads identity, goals, terminal endings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55"/>
                </a:solidFill>
              </a:rPr>
              <a:t>II   Choice Selection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55"/>
                </a:solidFill>
              </a:rPr>
              <a:t>     Player picks; tone is scored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55"/>
                </a:solidFill>
              </a:rPr>
              <a:t>IIa  Skill Check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55"/>
                </a:solidFill>
              </a:rPr>
              <a:t>     2 biased dice: player vs NPC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55"/>
                </a:solidFill>
              </a:rPr>
              <a:t>III  Cognitive Interpretation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55"/>
                </a:solidFill>
              </a:rPr>
              <a:t>     NPC forms an internal belief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55"/>
                </a:solidFill>
              </a:rPr>
              <a:t>IV   Desire Formation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55"/>
                </a:solidFill>
              </a:rPr>
              <a:t>     Belief -&gt; goal type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55"/>
                </a:solidFill>
              </a:rPr>
              <a:t>V    Socialisation Filter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55"/>
                </a:solidFill>
              </a:rPr>
              <a:t>     Goal -&gt; named behaviour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55"/>
                </a:solidFill>
              </a:rPr>
              <a:t>VI   Conversational Output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55"/>
                </a:solidFill>
              </a:rPr>
              <a:t>     Ollama generates the spoken text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2A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Architecture  -  Key Innovations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229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AB4C4"/>
                </a:solidFill>
              </a:rPr>
              <a:t>Chapter 5: What makes the PNE different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56235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5623560" cy="347472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417320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CognitiveThoughtMatcher  --  no AI in the reasoning layer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71600"/>
            <a:ext cx="73152" cy="2286000"/>
          </a:xfrm>
          <a:prstGeom prst="rect">
            <a:avLst/>
          </a:prstGeom>
          <a:solidFill>
            <a:srgbClr val="2A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53492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810 scored thought templates matched against player tone + NPC personality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Produces: internal thought, belief, emotional reaction, cognitive bias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Fully deterministic and unit-testable -- AI kept entirely out of this layer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Two NPCs with different profiles -&gt; provably different thoughts, same input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08192" y="1371600"/>
            <a:ext cx="56235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08192" y="1371600"/>
            <a:ext cx="5623560" cy="347472"/>
          </a:xfrm>
          <a:prstGeom prst="rect">
            <a:avLst/>
          </a:prstGeom>
          <a:solidFill>
            <a:srgbClr val="1E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417320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2-Dice Probabilistic Skill Check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08192" y="1371600"/>
            <a:ext cx="73152" cy="2286000"/>
          </a:xfrm>
          <a:prstGeom prst="rect">
            <a:avLst/>
          </a:prstGeom>
          <a:solidFill>
            <a:srgbClr val="2A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1072" y="1783080"/>
            <a:ext cx="53492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Player + NPC each roll a biased d6 -- player wins on a tie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Bias derived from player skill level and NPC resistance threshold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success_pct shown before each choice so players can weigh risk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Failed paths permanently pruned -- raises genuine, lasting stakes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867912"/>
            <a:ext cx="56235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867912"/>
            <a:ext cx="5623560" cy="347472"/>
          </a:xfrm>
          <a:prstGeom prst="rect">
            <a:avLst/>
          </a:prstGeom>
          <a:solidFill>
            <a:srgbClr val="1A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3913632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Judgement-Score Finite State Machine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867912"/>
            <a:ext cx="73152" cy="2286000"/>
          </a:xfrm>
          <a:prstGeom prst="rect">
            <a:avLst/>
          </a:prstGeom>
          <a:solidFill>
            <a:srgbClr val="2A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279392"/>
            <a:ext cx="53492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0-100 scalar aggregated across all turns -- routes narrative independently of AI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Risk multiplier: bold low-probability choices carry amplified consequences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FSM uses judgement score + relation score -- not raw AI text classification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Narrative destination is predictable and author-controlled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08192" y="3867912"/>
            <a:ext cx="56235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08192" y="3867912"/>
            <a:ext cx="5623560" cy="347472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3913632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Game-Engine Agnostic API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867912"/>
            <a:ext cx="73152" cy="2286000"/>
          </a:xfrm>
          <a:prstGeom prst="rect">
            <a:avLst/>
          </a:prstGeom>
          <a:solidFill>
            <a:srgbClr val="2A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2" y="4279392"/>
            <a:ext cx="53492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FastAPI REST + WebSocket -- Unity, Godot, Unreal can all connect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AI tokens streamed word-by-word via WebSocket for real-time feel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Drop-in C# client (Unity) and GDScript client (Godot) provided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No cloud dependency -- fully offline, zero per-request cost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2A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229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AB4C4"/>
                </a:solidFill>
              </a:rPr>
              <a:t>Chapter 6: Three NPCs, same scenario  --  door_guard_night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53312"/>
            <a:ext cx="9235440" cy="621792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426464"/>
            <a:ext cx="1216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NPC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73352" y="1426464"/>
            <a:ext cx="405079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Personality 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33872" y="1426464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Opening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79792" y="1426464"/>
            <a:ext cx="6675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Turns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7031" y="1426464"/>
            <a:ext cx="1216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Result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975104"/>
            <a:ext cx="92354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2048256"/>
            <a:ext cx="1216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Krakk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3352" y="2048256"/>
            <a:ext cx="405079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High empathy (0.8), low assertion (0.3)
Inferiority wildcard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33872" y="2048256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Diplomatic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79792" y="2048256"/>
            <a:ext cx="6675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2048256"/>
            <a:ext cx="1216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7A5E"/>
                </a:solidFill>
              </a:rPr>
              <a:t>SUCCEED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596896"/>
            <a:ext cx="9235440" cy="62179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" y="2670048"/>
            <a:ext cx="1216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Moses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73352" y="2670048"/>
            <a:ext cx="405079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Max assertion (1.0), low cog. flex (0.3)
Martyr wildcard x2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33872" y="2670048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Authority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9792" y="2670048"/>
            <a:ext cx="6675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1" y="2670048"/>
            <a:ext cx="1216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7A5E"/>
                </a:solidFill>
              </a:rPr>
              <a:t>SUCCEED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218688"/>
            <a:ext cx="92354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" y="3291840"/>
            <a:ext cx="1216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Troy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73352" y="3291840"/>
            <a:ext cx="405079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Low self-esteem (0.2), high assertion (0.8)
No wildcard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33872" y="32918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Authority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9792" y="3291840"/>
            <a:ext cx="6675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7031" y="3291840"/>
            <a:ext cx="1216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2222"/>
                </a:solidFill>
              </a:rPr>
              <a:t>FAIL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840480"/>
            <a:ext cx="9235440" cy="62179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" y="3913632"/>
            <a:ext cx="1216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Troy (alt)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73352" y="3913632"/>
            <a:ext cx="405079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Same NPC -- Empathy build player skills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33872" y="3913632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Empathy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9792" y="3913632"/>
            <a:ext cx="6675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55"/>
                </a:solidFill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57031" y="3913632"/>
            <a:ext cx="1216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7A5E"/>
                </a:solidFill>
              </a:rPr>
              <a:t>SUCCEED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4572000"/>
            <a:ext cx="3657600" cy="2029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4320" y="4572000"/>
            <a:ext cx="3657600" cy="292608"/>
          </a:xfrm>
          <a:prstGeom prst="rect">
            <a:avLst/>
          </a:prstGeom>
          <a:solidFill>
            <a:srgbClr val="2A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79" y="459028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Pipeline Coherence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60520" y="4572000"/>
            <a:ext cx="3657600" cy="2029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60520" y="4572000"/>
            <a:ext cx="3657600" cy="292608"/>
          </a:xfrm>
          <a:prstGeom prst="rect">
            <a:avLst/>
          </a:prstGeom>
          <a:solidFill>
            <a:srgbClr val="2A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97680" y="459028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Player Agency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46720" y="4572000"/>
            <a:ext cx="3657600" cy="2029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46720" y="4572000"/>
            <a:ext cx="3657600" cy="292608"/>
          </a:xfrm>
          <a:prstGeom prst="rect">
            <a:avLst/>
          </a:prstGeom>
          <a:solidFill>
            <a:srgbClr val="2A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83880" y="459028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Coherence Gap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" y="4892040"/>
            <a:ext cx="34290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444455"/>
                </a:solidFill>
              </a:rPr>
              <a:t>Internal state consistent across all turns for all 3 NPCs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55"/>
                </a:solidFill>
              </a:rPr>
              <a:t>Cognitive bias correctly shaped desire type every case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55"/>
                </a:solidFill>
              </a:rPr>
              <a:t>Moses Martyr wildcard fired and held across turns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97680" y="4892040"/>
            <a:ext cx="34290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444455"/>
                </a:solidFill>
              </a:rPr>
              <a:t>Troy Empathy build -&gt; SUCCEED in 2 turns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55"/>
                </a:solidFill>
              </a:rPr>
              <a:t>Troy Assertion build -&gt; FAIL at turn 3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55"/>
                </a:solidFill>
              </a:rPr>
              <a:t>Outcome driven by skill distribution, not choice text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83879" y="4892040"/>
            <a:ext cx="34290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444455"/>
                </a:solidFill>
              </a:rPr>
              <a:t>Moses turn 3: pipeline said explosive / confrontation 0.978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55"/>
                </a:solidFill>
              </a:rPr>
              <a:t>LLM produced a more moderate response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55"/>
                </a:solidFill>
              </a:rPr>
              <a:t>Pipeline logic correct -- LLM did not express full intensity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2A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Discussion &amp;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229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AB4C4"/>
                </a:solidFill>
              </a:rPr>
              <a:t>Chapter 7: What the results tell us -- and where the limits 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89888"/>
            <a:ext cx="557784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89888"/>
            <a:ext cx="5577840" cy="347472"/>
          </a:xfrm>
          <a:prstGeom prst="rect">
            <a:avLst/>
          </a:prstGeom>
          <a:solidFill>
            <a:srgbClr val="1A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435608"/>
            <a:ext cx="539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What Worked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01368"/>
            <a:ext cx="5349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BDI pipeline produces psychologically coherent NPC behaviour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without requiring the AI to reason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Separating cognition from language generation works: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  reasoning is deterministic and testable;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  speech is constrained by 19 canonical intentions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Personality parameters meaningfully differentiate NPCs --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Krakk, Moses and Troy behave exactly as their profiles predict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Player agency is real: skill distribution determines terminal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routing, not just which words the player chose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Local AI (Qwen2.5:3b) is viable for real-time dialogue on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consumer hardware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Research question answered: Yes -- psychological realism,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narrative coherence, and player agency can coexist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36792" y="1389888"/>
            <a:ext cx="557784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36792" y="1389888"/>
            <a:ext cx="5577840" cy="347472"/>
          </a:xfrm>
          <a:prstGeom prst="rect">
            <a:avLst/>
          </a:prstGeom>
          <a:solidFill>
            <a:srgbClr val="B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435608"/>
            <a:ext cx="539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Limitations &amp; Honest Critique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1801368"/>
            <a:ext cx="5349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AI coherence gap: model under-expressed intensity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on Moses turn 3 despite identical pipeline state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Wildcard system partially implemented -- complex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multi-turn wildcard interactions not fully tested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Logging gap: some internal transitions not persisted,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limiting post-hoc analysis depth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Narrow scenario coverage -- one scenario, three NPCs;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generalisation claims are bounded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4-6 GB VRAM requirement excludes low-spec hardware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and mobile devices entirely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Future validation needed across broader scenario types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and larger NPC casts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2A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Conclusion &amp; 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229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AB4C4"/>
                </a:solidFill>
              </a:rPr>
              <a:t>Chapter 8: What was achieved -- and where next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89888"/>
            <a:ext cx="557784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89888"/>
            <a:ext cx="5577840" cy="347472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435608"/>
            <a:ext cx="539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01368"/>
            <a:ext cx="5349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The PNE demonstrates that a BDI pipeline + psychology-grounded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personality model + constrained local AI is a viable architecture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for adaptive NPC dialogue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NPCs can think deterministically and speak naturally --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without pre-authored lines and without cloud infrastructure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The system is game-engine agnostic, open-source, and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deployable on mid-range consumer hardware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Key contribution: the CognitiveThoughtMatcher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An AI-free, testable cognitive interpretation layer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grounded in Ellis (1962), Heider (1958), Davis (1983)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Practical impact: enables indie developers to author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psychologically rich NPC dialogue at a fraction of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traditional authorial cost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36792" y="1389888"/>
            <a:ext cx="557784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36792" y="1389888"/>
            <a:ext cx="5577840" cy="347472"/>
          </a:xfrm>
          <a:prstGeom prst="rect">
            <a:avLst/>
          </a:prstGeom>
          <a:solidFill>
            <a:srgbClr val="1E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435608"/>
            <a:ext cx="539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Future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1801368"/>
            <a:ext cx="5349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Multi-level mentalising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  NPCs that model what the player believes about the NPC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Persistent NPC memory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  Relationship history that carries across sessions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Multi-NPC interaction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  NPCs that react to each other, not just to the player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Expanded scenario coverage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  Full story arcs, not just single-node scenarios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Larger AI evaluation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  Quantify coherence gap across model sizes (3B -&gt; 13B)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Player-facing transparency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444455"/>
                </a:solidFill>
              </a:rPr>
              <a:t>  UI that shows NPC emotional state in real time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2A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229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AB4C4"/>
                </a:solidFill>
              </a:rPr>
              <a:t>Key sources cited in this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353312"/>
            <a:ext cx="594360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Bratman, M. (1987) Intention, plans, and practical reason.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  Cambridge, MA: Harvard University Press.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Rao, A.S. &amp; Georgeff, M.P. (1995) 'BDI agents: from theory to practice'.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  Proc. ICMAS-95. Menlo Park: AAAI Press, pp. 312-319.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Georgeff, M. et al. (1999) 'The BDI model of agency'.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  Intelligent Agents V, LNCS 1555. Berlin: Springer, pp. 1-10.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Mateas, M. &amp; Stern, A. (2003) 'Facade'.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  Proc. Game Developers Conference, San Jose, CA.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Park, J.S. et al. (2023) 'Generative agents'.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  Proc. UIST '23. New York: ACM.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353312"/>
            <a:ext cx="557784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Ellis, A. (1962) Reason and emotion in psychotherapy.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  New York: Lyle Stuart.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Heider, F. (1958) The psychology of interpersonal relations.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  New York: Wiley.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Davis, M.H. (1983) 'Measuring individual differences in empathy'.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  J. Personality &amp; Social Psychology, 44(1), pp. 113-126.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Cialdini, R.B. (1984) Influence: the psychology of persuasion.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  New York: Harper Collins.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Murray, J.H. (1997) Hamlet on the Holodeck.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55"/>
                </a:solidFill>
              </a:rPr>
              <a:t>  New York: Free Press.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2A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0000" y="110000"/>
            <a:ext cx="1150000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FFFFFF"/>
                </a:solidFill>
              </a:rPr>
              <a:t>Architecture  —  Cognitive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0000" y="810000"/>
            <a:ext cx="11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F4F6F9"/>
                </a:solidFill>
              </a:rPr>
              <a:t>Stage III  |  "What does the NPC believe?"  |  Based on Ellis (1962) A-B-C  |  100% deterministic — no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220000" y="1297864"/>
            <a:ext cx="3450000" cy="20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0000" y="1297864"/>
            <a:ext cx="3450000" cy="3300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0000" y="1362864"/>
            <a:ext cx="331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</a:rPr>
              <a:t>INPUT  —  what enters the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0000" y="1687864"/>
            <a:ext cx="331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444455"/>
                </a:solidFill>
              </a:rPr>
              <a:t>Player selects a dialogue option</a:t>
            </a:r>
          </a:p>
          <a:p>
            <a:r>
              <a:rPr b="0" sz="1100">
                <a:solidFill>
                  <a:srgbClr val="444455"/>
                </a:solidFill>
              </a:rPr>
              <a:t>Language Art: CHALLENGE / EMPATHETIC / DIPLOMATIC / MANIPULATIVE</a:t>
            </a:r>
          </a:p>
          <a:p>
            <a:r>
              <a:rPr b="0" sz="1100">
                <a:solidFill>
                  <a:srgbClr val="444455"/>
                </a:solidFill>
              </a:rPr>
              <a:t/>
            </a:r>
          </a:p>
          <a:p>
            <a:r>
              <a:rPr b="0" sz="1100">
                <a:solidFill>
                  <a:srgbClr val="444455"/>
                </a:solidFill>
              </a:rPr>
              <a:t>Four tone scores: authority, diplomacy, empathy, manipulation</a:t>
            </a:r>
          </a:p>
          <a:p>
            <a:r>
              <a:rPr b="0" sz="1100">
                <a:solidFill>
                  <a:srgbClr val="444455"/>
                </a:solidFill>
              </a:rPr>
              <a:t>Skill Check result: success or fail</a:t>
            </a:r>
          </a:p>
          <a:p>
            <a:r>
              <a:rPr b="0" sz="1100">
                <a:solidFill>
                  <a:srgbClr val="444455"/>
                </a:solidFill>
              </a:rPr>
              <a:t/>
            </a:r>
          </a:p>
          <a:p>
            <a:r>
              <a:rPr b="1" sz="1100">
                <a:solidFill>
                  <a:srgbClr val="0D2B45"/>
                </a:solidFill>
              </a:rPr>
              <a:t>NPC personality (shapes every match):</a:t>
            </a:r>
          </a:p>
          <a:p>
            <a:r>
              <a:rPr b="0" sz="1100">
                <a:solidFill>
                  <a:srgbClr val="444455"/>
                </a:solidFill>
              </a:rPr>
              <a:t>  self_esteem  |  locus_of_control  |  cog_flexibility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0000" y="2147864"/>
            <a:ext cx="3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200">
                <a:solidFill>
                  <a:srgbClr val="2AB4C4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70000" y="1297864"/>
            <a:ext cx="3600000" cy="20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70000" y="1297864"/>
            <a:ext cx="3600000" cy="3300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40000" y="1362864"/>
            <a:ext cx="346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</a:rPr>
              <a:t>CognitiveThoughtMatcher  (no AI)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40000" y="1687864"/>
            <a:ext cx="346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0D2B45"/>
                </a:solidFill>
              </a:rPr>
              <a:t>810 pre-authored thought templates</a:t>
            </a:r>
          </a:p>
          <a:p>
            <a:r>
              <a:rPr b="0" sz="1100">
                <a:solidFill>
                  <a:srgbClr val="444455"/>
                </a:solidFill>
              </a:rPr>
              <a:t/>
            </a:r>
          </a:p>
          <a:p>
            <a:r>
              <a:rPr b="0" sz="1100">
                <a:solidFill>
                  <a:srgbClr val="444455"/>
                </a:solidFill>
              </a:rPr>
              <a:t>Each template has:</a:t>
            </a:r>
          </a:p>
          <a:p>
            <a:r>
              <a:rPr b="0" sz="1100">
                <a:solidFill>
                  <a:srgbClr val="444455"/>
                </a:solidFill>
              </a:rPr>
              <a:t>  bias_type  |  match_weights  |  thought text</a:t>
            </a:r>
          </a:p>
          <a:p>
            <a:r>
              <a:rPr b="0" sz="1100">
                <a:solidFill>
                  <a:srgbClr val="444455"/>
                </a:solidFill>
              </a:rPr>
              <a:t/>
            </a:r>
          </a:p>
          <a:p>
            <a:r>
              <a:rPr b="0" sz="1100">
                <a:solidFill>
                  <a:srgbClr val="444455"/>
                </a:solidFill>
              </a:rPr>
              <a:t>Scoring: weights × (player tone + NPC params)</a:t>
            </a:r>
          </a:p>
          <a:p>
            <a:r>
              <a:rPr b="1" sz="1100">
                <a:solidFill>
                  <a:srgbClr val="1E6FA8"/>
                </a:solidFill>
              </a:rPr>
              <a:t>Best-matching template selected deterministically</a:t>
            </a:r>
          </a:p>
          <a:p>
            <a:r>
              <a:rPr b="0" sz="1100">
                <a:solidFill>
                  <a:srgbClr val="444455"/>
                </a:solidFill>
              </a:rPr>
              <a:t/>
            </a:r>
          </a:p>
          <a:p>
            <a:r>
              <a:rPr b="0" sz="1100">
                <a:solidFill>
                  <a:srgbClr val="444455"/>
                </a:solidFill>
              </a:rPr>
              <a:t>Different NPC profiles → provably different outputs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0000" y="2147864"/>
            <a:ext cx="3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200">
                <a:solidFill>
                  <a:srgbClr val="2AB4C4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70000" y="1297864"/>
            <a:ext cx="3898952" cy="20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70000" y="1297864"/>
            <a:ext cx="3898952" cy="3300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0000" y="1362864"/>
            <a:ext cx="3758952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</a:rPr>
              <a:t>OUTPUT  —  four values produced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0000" y="1687864"/>
            <a:ext cx="3758952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0D2B45"/>
                </a:solidFill>
              </a:rPr>
              <a:t>internal_thought</a:t>
            </a:r>
          </a:p>
          <a:p>
            <a:r>
              <a:rPr b="0" sz="1100">
                <a:solidFill>
                  <a:srgbClr val="444455"/>
                </a:solidFill>
              </a:rPr>
              <a:t>  NPC's private first-person reaction</a:t>
            </a:r>
          </a:p>
          <a:p>
            <a:r>
              <a:rPr b="0" sz="1100">
                <a:solidFill>
                  <a:srgbClr val="444455"/>
                </a:solidFill>
              </a:rPr>
              <a:t/>
            </a:r>
          </a:p>
          <a:p>
            <a:r>
              <a:rPr b="1" sz="1100">
                <a:solidFill>
                  <a:srgbClr val="1E6FA8"/>
                </a:solidFill>
              </a:rPr>
              <a:t>subjective_belief  ← KEY VALUE</a:t>
            </a:r>
          </a:p>
          <a:p>
            <a:r>
              <a:rPr b="0" sz="1100">
                <a:solidFill>
                  <a:srgbClr val="444455"/>
                </a:solidFill>
              </a:rPr>
              <a:t>  What the NPC thinks of the player's intent</a:t>
            </a:r>
          </a:p>
          <a:p>
            <a:r>
              <a:rPr b="0" sz="1100">
                <a:solidFill>
                  <a:srgbClr val="444455"/>
                </a:solidFill>
              </a:rPr>
              <a:t>  (keyword-rich — drives the desire layer)</a:t>
            </a:r>
          </a:p>
          <a:p>
            <a:r>
              <a:rPr b="0" sz="1100">
                <a:solidFill>
                  <a:srgbClr val="444455"/>
                </a:solidFill>
              </a:rPr>
              <a:t/>
            </a:r>
          </a:p>
          <a:p>
            <a:r>
              <a:rPr b="0" sz="1100">
                <a:solidFill>
                  <a:srgbClr val="444455"/>
                </a:solidFill>
              </a:rPr>
              <a:t>emotional_valence   −1.0 to +1.0</a:t>
            </a:r>
          </a:p>
          <a:p>
            <a:r>
              <a:rPr b="0" sz="1100">
                <a:solidFill>
                  <a:srgbClr val="444455"/>
                </a:solidFill>
              </a:rPr>
              <a:t>cognitive_bias      e.g. black_white_thinking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0000" y="3447864"/>
            <a:ext cx="5774476" cy="333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0000" y="3447864"/>
            <a:ext cx="5774476" cy="3300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0000" y="3512864"/>
            <a:ext cx="5634476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</a:rPr>
              <a:t>Theory — Ellis (1962) A-B-C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" y="3837864"/>
            <a:ext cx="5634476" cy="2900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444455"/>
                </a:solidFill>
              </a:rPr>
              <a:t>A  =  Activating event  →  player's dialogue choice</a:t>
            </a:r>
          </a:p>
          <a:p>
            <a:r>
              <a:rPr b="1" sz="1100">
                <a:solidFill>
                  <a:srgbClr val="0D2B45"/>
                </a:solidFill>
              </a:rPr>
              <a:t>B  =  Belief            →  NPC's subjective interpretation  ← THIS LAYER</a:t>
            </a:r>
          </a:p>
          <a:p>
            <a:r>
              <a:rPr b="0" sz="1100">
                <a:solidFill>
                  <a:srgbClr val="444455"/>
                </a:solidFill>
              </a:rPr>
              <a:t>C  =  Consequence       →  emotional valence + desire formation (next layer)</a:t>
            </a:r>
          </a:p>
          <a:p>
            <a:r>
              <a:rPr b="0" sz="1100">
                <a:solidFill>
                  <a:srgbClr val="444455"/>
                </a:solidFill>
              </a:rPr>
              <a:t/>
            </a:r>
          </a:p>
          <a:p>
            <a:r>
              <a:rPr b="1" sz="1100">
                <a:solidFill>
                  <a:srgbClr val="1E6FA8"/>
                </a:solidFill>
              </a:rPr>
              <a:t>The cognitive layer IS the "B" — it mediates everything.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4476" y="3447864"/>
            <a:ext cx="5774476" cy="333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94476" y="3447864"/>
            <a:ext cx="5774476" cy="3300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4476" y="3512864"/>
            <a:ext cx="5634476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</a:rPr>
              <a:t>Memory Hook  —  say it to yourself: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4476" y="3837864"/>
            <a:ext cx="5634476" cy="2900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0D2B45"/>
                </a:solidFill>
              </a:rPr>
              <a:t>"The brain reads the room, forms a belief, and feels something"</a:t>
            </a:r>
          </a:p>
          <a:p>
            <a:r>
              <a:rPr b="0" sz="1100">
                <a:solidFill>
                  <a:srgbClr val="444455"/>
                </a:solidFill>
              </a:rPr>
              <a:t/>
            </a:r>
          </a:p>
          <a:p>
            <a:r>
              <a:rPr b="0" sz="1100">
                <a:solidFill>
                  <a:srgbClr val="444455"/>
                </a:solidFill>
              </a:rPr>
              <a:t>Same player words → DIFFERENT belief for Krakk vs Moses</a:t>
            </a:r>
          </a:p>
          <a:p>
            <a:r>
              <a:rPr b="0" sz="1100">
                <a:solidFill>
                  <a:srgbClr val="444455"/>
                </a:solidFill>
              </a:rPr>
              <a:t>because personality shapes which template wins.</a:t>
            </a:r>
          </a:p>
          <a:p>
            <a:r>
              <a:rPr b="0" sz="1100">
                <a:solidFill>
                  <a:srgbClr val="444455"/>
                </a:solidFill>
              </a:rPr>
              <a:t/>
            </a:r>
          </a:p>
          <a:p>
            <a:r>
              <a:rPr b="1" sz="1100">
                <a:solidFill>
                  <a:srgbClr val="2AB4C4"/>
                </a:solidFill>
              </a:rPr>
              <a:t>NO AI  =  NO hallucination in the reasoning stage.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2A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0000" y="110000"/>
            <a:ext cx="1150000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FFFFFF"/>
                </a:solidFill>
              </a:rPr>
              <a:t>Architecture  —  Desire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0000" y="810000"/>
            <a:ext cx="11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F4F6F9"/>
                </a:solidFill>
              </a:rPr>
              <a:t>Stage IV  |  "What does the NPC want?"  |  The belief text drives the goal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0000" y="1297864"/>
            <a:ext cx="11748952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444455"/>
                </a:solidFill>
              </a:rPr>
              <a:t>The subjective_belief text from the cognitive layer is scanned for keywords.  Keyword patterns map directly to one of four desire types.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20000" y="1597864"/>
            <a:ext cx="2862238" cy="18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0000" y="1597864"/>
            <a:ext cx="2862238" cy="330000"/>
          </a:xfrm>
          <a:prstGeom prst="rect">
            <a:avLst/>
          </a:prstGeom>
          <a:solidFill>
            <a:srgbClr val="1E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0000" y="1662864"/>
            <a:ext cx="2722238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</a:rPr>
              <a:t>INFORMATION-SEEKING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0000" y="1987864"/>
            <a:ext cx="2722238" cy="1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0D2B45"/>
                </a:solidFill>
              </a:rPr>
              <a:t>Trigger keywords:</a:t>
            </a:r>
          </a:p>
          <a:p>
            <a:r>
              <a:rPr b="0" sz="1000">
                <a:solidFill>
                  <a:srgbClr val="444455"/>
                </a:solidFill>
              </a:rPr>
              <a:t>unclear, unsure, testing,</a:t>
            </a:r>
          </a:p>
          <a:p>
            <a:r>
              <a:rPr b="0" sz="1000">
                <a:solidFill>
                  <a:srgbClr val="444455"/>
                </a:solidFill>
              </a:rPr>
              <a:t>ambiguous, confused</a:t>
            </a:r>
          </a:p>
          <a:p>
            <a:r>
              <a:rPr b="0" sz="1000">
                <a:solidFill>
                  <a:srgbClr val="444455"/>
                </a:solidFill>
              </a:rPr>
              <a:t/>
            </a:r>
          </a:p>
          <a:p>
            <a:r>
              <a:rPr b="1" sz="1000">
                <a:solidFill>
                  <a:srgbClr val="0D2B45"/>
                </a:solidFill>
              </a:rPr>
              <a:t>Valence fallback:</a:t>
            </a:r>
          </a:p>
          <a:p>
            <a:r>
              <a:rPr b="0" sz="1000">
                <a:solidFill>
                  <a:srgbClr val="444455"/>
                </a:solidFill>
              </a:rPr>
              <a:t>valence &gt; +0.3 → this desire</a:t>
            </a:r>
          </a:p>
          <a:p>
            <a:r>
              <a:rPr b="0" sz="1000">
                <a:solidFill>
                  <a:srgbClr val="444455"/>
                </a:solidFill>
              </a:rPr>
              <a:t/>
            </a:r>
          </a:p>
          <a:p>
            <a:r>
              <a:rPr b="0" sz="1000">
                <a:solidFill>
                  <a:srgbClr val="1E6FA8"/>
                </a:solidFill>
              </a:rPr>
              <a:t>NPC wants to understand</a:t>
            </a:r>
          </a:p>
          <a:p>
            <a:r>
              <a:rPr b="0" sz="1000">
                <a:solidFill>
                  <a:srgbClr val="1E6FA8"/>
                </a:solidFill>
              </a:rPr>
              <a:t>what the player actually means.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82238" y="1597864"/>
            <a:ext cx="2862238" cy="18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82238" y="1597864"/>
            <a:ext cx="2862238" cy="330000"/>
          </a:xfrm>
          <a:prstGeom prst="rect">
            <a:avLst/>
          </a:prstGeom>
          <a:solidFill>
            <a:srgbClr val="2E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52238" y="1662864"/>
            <a:ext cx="2722238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</a:rPr>
              <a:t>AFFILIATION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52238" y="1987864"/>
            <a:ext cx="2722238" cy="1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0D2B45"/>
                </a:solidFill>
              </a:rPr>
              <a:t>Trigger keywords:</a:t>
            </a:r>
          </a:p>
          <a:p>
            <a:r>
              <a:rPr b="0" sz="1000">
                <a:solidFill>
                  <a:srgbClr val="444455"/>
                </a:solidFill>
              </a:rPr>
              <a:t>genuine, sincere, authentic,</a:t>
            </a:r>
          </a:p>
          <a:p>
            <a:r>
              <a:rPr b="0" sz="1000">
                <a:solidFill>
                  <a:srgbClr val="444455"/>
                </a:solidFill>
              </a:rPr>
              <a:t>honest, trust</a:t>
            </a:r>
          </a:p>
          <a:p>
            <a:r>
              <a:rPr b="0" sz="1000">
                <a:solidFill>
                  <a:srgbClr val="444455"/>
                </a:solidFill>
              </a:rPr>
              <a:t/>
            </a:r>
          </a:p>
          <a:p>
            <a:r>
              <a:rPr b="1" sz="1000">
                <a:solidFill>
                  <a:srgbClr val="0D2B45"/>
                </a:solidFill>
              </a:rPr>
              <a:t>Valence fallback:</a:t>
            </a:r>
          </a:p>
          <a:p>
            <a:r>
              <a:rPr b="0" sz="1000">
                <a:solidFill>
                  <a:srgbClr val="444455"/>
                </a:solidFill>
              </a:rPr>
              <a:t>valence &gt; +0.3 (if no keyword)</a:t>
            </a:r>
          </a:p>
          <a:p>
            <a:r>
              <a:rPr b="0" sz="1000">
                <a:solidFill>
                  <a:srgbClr val="444455"/>
                </a:solidFill>
              </a:rPr>
              <a:t/>
            </a:r>
          </a:p>
          <a:p>
            <a:r>
              <a:rPr b="0" sz="1000">
                <a:solidFill>
                  <a:srgbClr val="2EA05A"/>
                </a:solidFill>
              </a:rPr>
              <a:t>NPC wants connection,</a:t>
            </a:r>
          </a:p>
          <a:p>
            <a:r>
              <a:rPr b="0" sz="1000">
                <a:solidFill>
                  <a:srgbClr val="2EA05A"/>
                </a:solidFill>
              </a:rPr>
              <a:t>agreement, or rapport.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44476" y="1597864"/>
            <a:ext cx="2862238" cy="18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44476" y="1597864"/>
            <a:ext cx="2862238" cy="330000"/>
          </a:xfrm>
          <a:prstGeom prst="rect">
            <a:avLst/>
          </a:prstGeom>
          <a:solidFill>
            <a:srgbClr val="C0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4476" y="1662864"/>
            <a:ext cx="2722238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</a:rPr>
              <a:t>PROTECTION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4476" y="1987864"/>
            <a:ext cx="2722238" cy="1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0D2B45"/>
                </a:solidFill>
              </a:rPr>
              <a:t>Trigger keywords:</a:t>
            </a:r>
          </a:p>
          <a:p>
            <a:r>
              <a:rPr b="0" sz="1000">
                <a:solidFill>
                  <a:srgbClr val="444455"/>
                </a:solidFill>
              </a:rPr>
              <a:t>manipulative, threat, deceive,</a:t>
            </a:r>
          </a:p>
          <a:p>
            <a:r>
              <a:rPr b="0" sz="1000">
                <a:solidFill>
                  <a:srgbClr val="444455"/>
                </a:solidFill>
              </a:rPr>
              <a:t>danger, hostile</a:t>
            </a:r>
          </a:p>
          <a:p>
            <a:r>
              <a:rPr b="0" sz="1000">
                <a:solidFill>
                  <a:srgbClr val="444455"/>
                </a:solidFill>
              </a:rPr>
              <a:t/>
            </a:r>
          </a:p>
          <a:p>
            <a:r>
              <a:rPr b="1" sz="1000">
                <a:solidFill>
                  <a:srgbClr val="0D2B45"/>
                </a:solidFill>
              </a:rPr>
              <a:t>Valence fallback:</a:t>
            </a:r>
          </a:p>
          <a:p>
            <a:r>
              <a:rPr b="0" sz="1000">
                <a:solidFill>
                  <a:srgbClr val="444455"/>
                </a:solidFill>
              </a:rPr>
              <a:t>valence &lt; −0.3 → this desire</a:t>
            </a:r>
          </a:p>
          <a:p>
            <a:r>
              <a:rPr b="0" sz="1000">
                <a:solidFill>
                  <a:srgbClr val="444455"/>
                </a:solidFill>
              </a:rPr>
              <a:t/>
            </a:r>
          </a:p>
          <a:p>
            <a:r>
              <a:rPr b="0" sz="1000">
                <a:solidFill>
                  <a:srgbClr val="C03A3A"/>
                </a:solidFill>
              </a:rPr>
              <a:t>NPC wants to defend,</a:t>
            </a:r>
          </a:p>
          <a:p>
            <a:r>
              <a:rPr b="0" sz="1000">
                <a:solidFill>
                  <a:srgbClr val="C03A3A"/>
                </a:solidFill>
              </a:rPr>
              <a:t>resist, or push back.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06714" y="1597864"/>
            <a:ext cx="2862238" cy="18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06714" y="1597864"/>
            <a:ext cx="2862238" cy="330000"/>
          </a:xfrm>
          <a:prstGeom prst="rect">
            <a:avLst/>
          </a:prstGeom>
          <a:solidFill>
            <a:srgbClr val="E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6714" y="1662864"/>
            <a:ext cx="2722238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</a:rPr>
              <a:t>DOMINANCE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6714" y="1987864"/>
            <a:ext cx="2722238" cy="1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0D2B45"/>
                </a:solidFill>
              </a:rPr>
              <a:t>Trigger keywords:</a:t>
            </a:r>
          </a:p>
          <a:p>
            <a:r>
              <a:rPr b="0" sz="1000">
                <a:solidFill>
                  <a:srgbClr val="444455"/>
                </a:solidFill>
              </a:rPr>
              <a:t>opportunistic, exploit, force,</a:t>
            </a:r>
          </a:p>
          <a:p>
            <a:r>
              <a:rPr b="0" sz="1000">
                <a:solidFill>
                  <a:srgbClr val="444455"/>
                </a:solidFill>
              </a:rPr>
              <a:t>control, power</a:t>
            </a:r>
          </a:p>
          <a:p>
            <a:r>
              <a:rPr b="0" sz="1000">
                <a:solidFill>
                  <a:srgbClr val="444455"/>
                </a:solidFill>
              </a:rPr>
              <a:t/>
            </a:r>
          </a:p>
          <a:p>
            <a:r>
              <a:rPr b="1" sz="1000">
                <a:solidFill>
                  <a:srgbClr val="0D2B45"/>
                </a:solidFill>
              </a:rPr>
              <a:t>Also: ideological clash</a:t>
            </a:r>
          </a:p>
          <a:p>
            <a:r>
              <a:rPr b="0" sz="1000">
                <a:solidFill>
                  <a:srgbClr val="444455"/>
                </a:solidFill>
              </a:rPr>
              <a:t>when ideology_alignment fires</a:t>
            </a:r>
          </a:p>
          <a:p>
            <a:r>
              <a:rPr b="0" sz="1000">
                <a:solidFill>
                  <a:srgbClr val="444455"/>
                </a:solidFill>
              </a:rPr>
              <a:t/>
            </a:r>
          </a:p>
          <a:p>
            <a:r>
              <a:rPr b="0" sz="1000">
                <a:solidFill>
                  <a:srgbClr val="E88A1A"/>
                </a:solidFill>
              </a:rPr>
              <a:t>NPC wants to assert,</a:t>
            </a:r>
          </a:p>
          <a:p>
            <a:r>
              <a:rPr b="0" sz="1000">
                <a:solidFill>
                  <a:srgbClr val="E88A1A"/>
                </a:solidFill>
              </a:rPr>
              <a:t>control, or challenge.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0000" y="3547864"/>
            <a:ext cx="5774476" cy="323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0000" y="3547864"/>
            <a:ext cx="5774476" cy="3300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0000" y="3612864"/>
            <a:ext cx="5634476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</a:rPr>
              <a:t>Bias Modifier — personality adjusts the desire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0000" y="3937864"/>
            <a:ext cx="5634476" cy="2800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444455"/>
                </a:solidFill>
              </a:rPr>
              <a:t>After keyword patterns resolve, the cognitive_bias type</a:t>
            </a:r>
          </a:p>
          <a:p>
            <a:r>
              <a:rPr b="0" sz="1100">
                <a:solidFill>
                  <a:srgbClr val="444455"/>
                </a:solidFill>
              </a:rPr>
              <a:t>applies an intensity multiplier to the matching desire.</a:t>
            </a:r>
          </a:p>
          <a:p>
            <a:r>
              <a:rPr b="0" sz="1100">
                <a:solidFill>
                  <a:srgbClr val="444455"/>
                </a:solidFill>
              </a:rPr>
              <a:t/>
            </a:r>
          </a:p>
          <a:p>
            <a:r>
              <a:rPr b="0" sz="1100">
                <a:solidFill>
                  <a:srgbClr val="444455"/>
                </a:solidFill>
              </a:rPr>
              <a:t>e.g.  black_white_thinking  → boosts DOMINANCE or PROTECTION</a:t>
            </a:r>
          </a:p>
          <a:p>
            <a:r>
              <a:rPr b="0" sz="1100">
                <a:solidFill>
                  <a:srgbClr val="444455"/>
                </a:solidFill>
              </a:rPr>
              <a:t>e.g.  confirmation_bias      → boosts AFFILIATION</a:t>
            </a:r>
          </a:p>
          <a:p>
            <a:r>
              <a:rPr b="0" sz="1100">
                <a:solidFill>
                  <a:srgbClr val="444455"/>
                </a:solidFill>
              </a:rPr>
              <a:t>e.g.  ideological_filter     → boosts PROTECTION (challenge) or AFFILIATION (agree)</a:t>
            </a:r>
          </a:p>
          <a:p>
            <a:r>
              <a:rPr b="0" sz="1100">
                <a:solidFill>
                  <a:srgbClr val="444455"/>
                </a:solidFill>
              </a:rPr>
              <a:t/>
            </a:r>
          </a:p>
          <a:p>
            <a:r>
              <a:rPr b="1" sz="1100">
                <a:solidFill>
                  <a:srgbClr val="1E6FA8"/>
                </a:solidFill>
              </a:rPr>
              <a:t>The bias is set by the cognitive layer — this is how the two stages chain together.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94476" y="3547864"/>
            <a:ext cx="5774476" cy="323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94476" y="3547864"/>
            <a:ext cx="5774476" cy="3300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4476" y="3612864"/>
            <a:ext cx="5634476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</a:rPr>
              <a:t>Wildcard Override + Memory Hook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4476" y="3937864"/>
            <a:ext cx="5634476" cy="2800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444455"/>
                </a:solidFill>
              </a:rPr>
              <a:t>Each NPC can have a wildcard personality trait.</a:t>
            </a:r>
          </a:p>
          <a:p>
            <a:r>
              <a:rPr b="0" sz="1100">
                <a:solidFill>
                  <a:srgbClr val="444455"/>
                </a:solidFill>
              </a:rPr>
              <a:t>Under extreme conditions it bypasses all keyword logic:</a:t>
            </a:r>
          </a:p>
          <a:p>
            <a:r>
              <a:rPr b="0" sz="1100">
                <a:solidFill>
                  <a:srgbClr val="444455"/>
                </a:solidFill>
              </a:rPr>
              <a:t/>
            </a:r>
          </a:p>
          <a:p>
            <a:r>
              <a:rPr b="1" sz="1100">
                <a:solidFill>
                  <a:srgbClr val="C03A3A"/>
                </a:solidFill>
              </a:rPr>
              <a:t>Moses — Martyr wildcard:</a:t>
            </a:r>
          </a:p>
          <a:p>
            <a:r>
              <a:rPr b="0" sz="1100">
                <a:solidFill>
                  <a:srgbClr val="444455"/>
                </a:solidFill>
              </a:rPr>
              <a:t>  ideological pressure → hard-select PROTECTION at 0.978 confrontation</a:t>
            </a:r>
          </a:p>
          <a:p>
            <a:r>
              <a:rPr b="1" sz="1100">
                <a:solidFill>
                  <a:srgbClr val="1E6FA8"/>
                </a:solidFill>
              </a:rPr>
              <a:t>Krakk — Inferiority wildcard:</a:t>
            </a:r>
          </a:p>
          <a:p>
            <a:r>
              <a:rPr b="0" sz="1100">
                <a:solidFill>
                  <a:srgbClr val="444455"/>
                </a:solidFill>
              </a:rPr>
              <a:t>  sensitivity to dismissive tone</a:t>
            </a:r>
          </a:p>
          <a:p>
            <a:r>
              <a:rPr b="0" sz="1100">
                <a:solidFill>
                  <a:srgbClr val="444455"/>
                </a:solidFill>
              </a:rPr>
              <a:t/>
            </a:r>
          </a:p>
          <a:p>
            <a:r>
              <a:rPr b="1" sz="1100">
                <a:solidFill>
                  <a:srgbClr val="0D2B45"/>
                </a:solidFill>
              </a:rPr>
              <a:t>Memory Hook:  I · A · P · D</a:t>
            </a:r>
          </a:p>
          <a:p>
            <a:r>
              <a:rPr b="1" sz="1100">
                <a:solidFill>
                  <a:srgbClr val="2AB4C4"/>
                </a:solidFill>
              </a:rPr>
              <a:t>"Info / Affiliate / Protect / Dominate — the belief picks the goal."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2A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0000" y="110000"/>
            <a:ext cx="1150000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FFFFFF"/>
                </a:solidFill>
              </a:rPr>
              <a:t>Architecture  —  Socialisation Layer  (Intention)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0000" y="810000"/>
            <a:ext cx="11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F4F6F9"/>
                </a:solidFill>
              </a:rPr>
              <a:t>Stage V  |  "How does the NPC act?"  |  Desire type → 1 of 19 named intentions → LLM speaks the result</a:t>
            </a:r>
          </a:p>
        </p:txBody>
      </p:sp>
      <p:sp>
        <p:nvSpPr>
          <p:cNvPr id="7" name="Rectangle 6"/>
          <p:cNvSpPr/>
          <p:nvPr/>
        </p:nvSpPr>
        <p:spPr>
          <a:xfrm>
            <a:off x="220000" y="1297864"/>
            <a:ext cx="4200000" cy="2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0000" y="1297864"/>
            <a:ext cx="4200000" cy="3300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0000" y="1362864"/>
            <a:ext cx="406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</a:rPr>
              <a:t>INTENTION_REGISTRY — 19 canonical intentions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0000" y="1687864"/>
            <a:ext cx="4060000" cy="2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0D2B45"/>
                </a:solidFill>
              </a:rPr>
              <a:t>Each intention template has:</a:t>
            </a:r>
          </a:p>
          <a:p>
            <a:r>
              <a:rPr b="0" sz="1100">
                <a:solidFill>
                  <a:srgbClr val="444455"/>
                </a:solidFill>
              </a:rPr>
              <a:t>  desire_type     — which desire this intention serves</a:t>
            </a:r>
          </a:p>
          <a:p>
            <a:r>
              <a:rPr b="0" sz="1100">
                <a:solidFill>
                  <a:srgbClr val="444455"/>
                </a:solidFill>
              </a:rPr>
              <a:t>  confrontation_range  — [min, max] confrontation this intention uses</a:t>
            </a:r>
          </a:p>
          <a:p>
            <a:r>
              <a:rPr b="0" sz="1100">
                <a:solidFill>
                  <a:srgbClr val="444455"/>
                </a:solidFill>
              </a:rPr>
              <a:t>  expression_type — calm / careful / firm / challenging / explosive</a:t>
            </a:r>
          </a:p>
          <a:p>
            <a:r>
              <a:rPr b="0" sz="1100">
                <a:solidFill>
                  <a:srgbClr val="444455"/>
                </a:solidFill>
              </a:rPr>
              <a:t>  dialogue_direction  — a one-line scene direction for the LLM</a:t>
            </a:r>
          </a:p>
          <a:p>
            <a:r>
              <a:rPr b="0" sz="1100">
                <a:solidFill>
                  <a:srgbClr val="444455"/>
                </a:solidFill>
              </a:rPr>
              <a:t/>
            </a:r>
          </a:p>
          <a:p>
            <a:r>
              <a:rPr b="1" sz="1100">
                <a:solidFill>
                  <a:srgbClr val="0D2B45"/>
                </a:solidFill>
              </a:rPr>
              <a:t>Selection process:</a:t>
            </a:r>
          </a:p>
          <a:p>
            <a:r>
              <a:rPr b="0" sz="1100">
                <a:solidFill>
                  <a:srgbClr val="444455"/>
                </a:solidFill>
              </a:rPr>
              <a:t>  1. Filter registry to templates matching the current desire_type</a:t>
            </a:r>
          </a:p>
          <a:p>
            <a:r>
              <a:rPr b="0" sz="1100">
                <a:solidFill>
                  <a:srgbClr val="444455"/>
                </a:solidFill>
              </a:rPr>
              <a:t>  2. Score each against NPC personality + desire intensity</a:t>
            </a:r>
          </a:p>
          <a:p>
            <a:r>
              <a:rPr b="1" sz="1100">
                <a:solidFill>
                  <a:srgbClr val="1E6FA8"/>
                </a:solidFill>
              </a:rPr>
              <a:t>  3. Pick best match — deterministic</a:t>
            </a:r>
          </a:p>
          <a:p>
            <a:r>
              <a:rPr b="0" sz="1100">
                <a:solidFill>
                  <a:srgbClr val="444455"/>
                </a:solidFill>
              </a:rPr>
              <a:t/>
            </a:r>
          </a:p>
          <a:p>
            <a:r>
              <a:rPr b="1" sz="1100">
                <a:solidFill>
                  <a:srgbClr val="1E6FA8"/>
                </a:solidFill>
              </a:rPr>
              <a:t>Confrontation is then CLAMPED to the NPC's natural range.</a:t>
            </a:r>
          </a:p>
          <a:p>
            <a:r>
              <a:rPr b="0" sz="1100">
                <a:solidFill>
                  <a:srgbClr val="444455"/>
                </a:solidFill>
              </a:rPr>
              <a:t>  Low assertion NPC → confrontation stays low even under protection desire.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20000" y="1297864"/>
            <a:ext cx="3400000" cy="7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20000" y="1297864"/>
            <a:ext cx="3400000" cy="330000"/>
          </a:xfrm>
          <a:prstGeom prst="rect">
            <a:avLst/>
          </a:prstGeom>
          <a:solidFill>
            <a:srgbClr val="1E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90000" y="1362864"/>
            <a:ext cx="326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</a:rPr>
              <a:t>Example: "Carefully Question Motives"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000" y="1687864"/>
            <a:ext cx="326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444455"/>
                </a:solidFill>
              </a:rPr>
              <a:t>desire: information-seeking  |  confrontation: ~0.4  |  expression: careful</a:t>
            </a:r>
          </a:p>
          <a:p>
            <a:r>
              <a:rPr b="0" sz="1100">
                <a:solidFill>
                  <a:srgbClr val="1E6FA8"/>
                </a:solidFill>
              </a:rPr>
              <a:t>Direction: "Question the player's motivation with measured scepticism"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20000" y="2117864"/>
            <a:ext cx="3400000" cy="7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20000" y="2117864"/>
            <a:ext cx="3400000" cy="330000"/>
          </a:xfrm>
          <a:prstGeom prst="rect">
            <a:avLst/>
          </a:prstGeom>
          <a:solidFill>
            <a:srgbClr val="C0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90000" y="2182864"/>
            <a:ext cx="326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</a:rPr>
              <a:t>Example: "Defend Cause Passionately"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0000" y="2507864"/>
            <a:ext cx="326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444455"/>
                </a:solidFill>
              </a:rPr>
              <a:t>desire: protection (Martyr wildcard)  |  confrontation: 0.978  |  expression: explosive</a:t>
            </a:r>
          </a:p>
          <a:p>
            <a:r>
              <a:rPr b="0" sz="1100">
                <a:solidFill>
                  <a:srgbClr val="C03A3A"/>
                </a:solidFill>
              </a:rPr>
              <a:t>Direction: "Confront the player with full ideological intensity"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20000" y="2937864"/>
            <a:ext cx="3400000" cy="7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20000" y="2937864"/>
            <a:ext cx="3400000" cy="330000"/>
          </a:xfrm>
          <a:prstGeom prst="rect">
            <a:avLst/>
          </a:prstGeom>
          <a:solidFill>
            <a:srgbClr val="2E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90000" y="3002864"/>
            <a:ext cx="326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</a:rPr>
              <a:t>Example: "Accept Conditionally"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90000" y="3327864"/>
            <a:ext cx="326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444455"/>
                </a:solidFill>
              </a:rPr>
              <a:t>desire: affiliation  |  confrontation: ~0.3  |  expression: calm</a:t>
            </a:r>
          </a:p>
          <a:p>
            <a:r>
              <a:rPr b="0" sz="1100">
                <a:solidFill>
                  <a:srgbClr val="2EA05A"/>
                </a:solidFill>
              </a:rPr>
              <a:t>Direction: "Show willingness but attach a clear condition or expectation"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0000" y="1297864"/>
            <a:ext cx="3748952" cy="2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0000" y="1297864"/>
            <a:ext cx="3748952" cy="3300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90000" y="1362864"/>
            <a:ext cx="3608952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</a:rPr>
              <a:t>What goes to Ollama (LLM input):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0000" y="1687864"/>
            <a:ext cx="3608952" cy="2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0D2B45"/>
                </a:solidFill>
              </a:rPr>
              <a:t>intention name</a:t>
            </a:r>
          </a:p>
          <a:p>
            <a:r>
              <a:rPr b="0" sz="1100">
                <a:solidFill>
                  <a:srgbClr val="444455"/>
                </a:solidFill>
              </a:rPr>
              <a:t>  e.g.  "Defend Cause Passionately"</a:t>
            </a:r>
          </a:p>
          <a:p>
            <a:r>
              <a:rPr b="1" sz="1100">
                <a:solidFill>
                  <a:srgbClr val="0D2B45"/>
                </a:solidFill>
              </a:rPr>
              <a:t>confrontation_level   0.0 – 1.0</a:t>
            </a:r>
          </a:p>
          <a:p>
            <a:r>
              <a:rPr b="0" sz="1100">
                <a:solidFill>
                  <a:srgbClr val="444455"/>
                </a:solidFill>
              </a:rPr>
              <a:t>expression_type      explosive</a:t>
            </a:r>
          </a:p>
          <a:p>
            <a:r>
              <a:rPr b="0" sz="1100">
                <a:solidFill>
                  <a:srgbClr val="444455"/>
                </a:solidFill>
              </a:rPr>
              <a:t>internal_thought     (NPC's private reaction)</a:t>
            </a:r>
          </a:p>
          <a:p>
            <a:r>
              <a:rPr b="0" sz="1100">
                <a:solidFill>
                  <a:srgbClr val="444455"/>
                </a:solidFill>
              </a:rPr>
              <a:t>subjective_belief    (what NPC thinks of player)</a:t>
            </a:r>
          </a:p>
          <a:p>
            <a:r>
              <a:rPr b="0" sz="1100">
                <a:solidFill>
                  <a:srgbClr val="444455"/>
                </a:solidFill>
              </a:rPr>
              <a:t>emotional_valence    −1.0 to +1.0</a:t>
            </a:r>
          </a:p>
          <a:p>
            <a:r>
              <a:rPr b="0" sz="1100">
                <a:solidFill>
                  <a:srgbClr val="444455"/>
                </a:solidFill>
              </a:rPr>
              <a:t>NPC personality summary</a:t>
            </a:r>
          </a:p>
          <a:p>
            <a:r>
              <a:rPr b="0" sz="1100">
                <a:solidFill>
                  <a:srgbClr val="444455"/>
                </a:solidFill>
              </a:rPr>
              <a:t/>
            </a:r>
          </a:p>
          <a:p>
            <a:r>
              <a:rPr b="1" sz="1100">
                <a:solidFill>
                  <a:srgbClr val="2AB4C4"/>
                </a:solidFill>
              </a:rPr>
              <a:t>The LLM ONLY handles tone and phrasing.</a:t>
            </a:r>
          </a:p>
          <a:p>
            <a:r>
              <a:rPr b="1" sz="1100">
                <a:solidFill>
                  <a:srgbClr val="2AB4C4"/>
                </a:solidFill>
              </a:rPr>
              <a:t>The psychology is ALREADY decided.</a:t>
            </a:r>
          </a:p>
          <a:p>
            <a:r>
              <a:rPr b="0" sz="1100">
                <a:solidFill>
                  <a:srgbClr val="444455"/>
                </a:solidFill>
              </a:rPr>
              <a:t>This is the key architectural separation.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0000" y="3997864"/>
            <a:ext cx="5774476" cy="278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0000" y="3997864"/>
            <a:ext cx="5774476" cy="3300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0000" y="4062864"/>
            <a:ext cx="5634476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</a:rPr>
              <a:t>The full BDI flow (one turn):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0000" y="4387864"/>
            <a:ext cx="5634476" cy="2350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444455"/>
                </a:solidFill>
              </a:rPr>
              <a:t>Player choice  →  [Cognitive Layer]  →  belief + bias</a:t>
            </a:r>
          </a:p>
          <a:p>
            <a:r>
              <a:rPr b="0" sz="1100">
                <a:solidFill>
                  <a:srgbClr val="444455"/>
                </a:solidFill>
              </a:rPr>
              <a:t>belief  →  [Desire Layer]  →  desire type (IAPD)</a:t>
            </a:r>
          </a:p>
          <a:p>
            <a:r>
              <a:rPr b="0" sz="1100">
                <a:solidFill>
                  <a:srgbClr val="444455"/>
                </a:solidFill>
              </a:rPr>
              <a:t>desire  →  [Socialisation Layer]  →  named intention</a:t>
            </a:r>
          </a:p>
          <a:p>
            <a:r>
              <a:rPr b="0" sz="1100">
                <a:solidFill>
                  <a:srgbClr val="444455"/>
                </a:solidFill>
              </a:rPr>
              <a:t>intention  →  Ollama  →  spoken NPC dialogue</a:t>
            </a:r>
          </a:p>
          <a:p>
            <a:r>
              <a:rPr b="0" sz="1100">
                <a:solidFill>
                  <a:srgbClr val="444455"/>
                </a:solidFill>
              </a:rPr>
              <a:t/>
            </a:r>
          </a:p>
          <a:p>
            <a:r>
              <a:rPr b="1" sz="1100">
                <a:solidFill>
                  <a:srgbClr val="1E6FA8"/>
                </a:solidFill>
              </a:rPr>
              <a:t>Outcome layer: stance_delta + relation_delta + FSM routing</a:t>
            </a:r>
          </a:p>
          <a:p>
            <a:r>
              <a:rPr b="0" sz="1100">
                <a:solidFill>
                  <a:srgbClr val="444455"/>
                </a:solidFill>
              </a:rPr>
              <a:t>judgement score accumulates across turns → terminal condition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4476" y="3997864"/>
            <a:ext cx="5774476" cy="2780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4476" y="3997864"/>
            <a:ext cx="5774476" cy="3300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4476" y="4062864"/>
            <a:ext cx="5634476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</a:rPr>
              <a:t>Memory Hook  —  say it to yourself: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4476" y="4387864"/>
            <a:ext cx="5634476" cy="2350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0D2B45"/>
                </a:solidFill>
              </a:rPr>
              <a:t>"The actor picks a script direction — then the AI performs it"</a:t>
            </a:r>
          </a:p>
          <a:p>
            <a:r>
              <a:rPr b="0" sz="1100">
                <a:solidFill>
                  <a:srgbClr val="444455"/>
                </a:solidFill>
              </a:rPr>
              <a:t/>
            </a:r>
          </a:p>
          <a:p>
            <a:r>
              <a:rPr b="0" sz="1100">
                <a:solidFill>
                  <a:srgbClr val="444455"/>
                </a:solidFill>
              </a:rPr>
              <a:t>19 intentions = finite, author-controlled expressive range</a:t>
            </a:r>
          </a:p>
          <a:p>
            <a:r>
              <a:rPr b="0" sz="1100">
                <a:solidFill>
                  <a:srgbClr val="444455"/>
                </a:solidFill>
              </a:rPr>
              <a:t>Confrontation clamped = NPC personality is always respected</a:t>
            </a:r>
          </a:p>
          <a:p>
            <a:r>
              <a:rPr b="1" sz="1100">
                <a:solidFill>
                  <a:srgbClr val="2AB4C4"/>
                </a:solidFill>
              </a:rPr>
              <a:t>LLM speaks the result — it does NOT decide the behaviour</a:t>
            </a:r>
          </a:p>
          <a:p>
            <a:r>
              <a:rPr b="0" sz="1100">
                <a:solidFill>
                  <a:srgbClr val="444455"/>
                </a:solidFill>
              </a:rPr>
              <a:t/>
            </a:r>
          </a:p>
          <a:p>
            <a:r>
              <a:rPr b="1" sz="1100">
                <a:solidFill>
                  <a:srgbClr val="0D2B45"/>
                </a:solidFill>
              </a:rPr>
              <a:t>Together the three layers are:</a:t>
            </a:r>
          </a:p>
          <a:p>
            <a:r>
              <a:rPr b="1" sz="1100">
                <a:solidFill>
                  <a:srgbClr val="1E6FA8"/>
                </a:solidFill>
              </a:rPr>
              <a:t>  Cognitive = THINK   |   Desire = WANT   |   Socialisation = ACT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2A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0000" y="110000"/>
            <a:ext cx="1150000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FFFFFF"/>
                </a:solidFill>
              </a:rPr>
              <a:t>Results  —  Same Input, Different NPCs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0000" y="810000"/>
            <a:ext cx="11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F4F6F9"/>
                </a:solidFill>
              </a:rPr>
              <a:t>Troy vs Moses: identical open_authority challenge → completely divergent pipeline states (Chapter 6.3)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0000" y="1297864"/>
            <a:ext cx="11748952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444455"/>
                </a:solidFill>
              </a:rPr>
              <a:t>Both NPCs received the same player text.  Both produced negative emotional valence (−0.45).  Everything else diverged.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220000" y="1597864"/>
            <a:ext cx="5774476" cy="2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0000" y="1597864"/>
            <a:ext cx="5774476" cy="330000"/>
          </a:xfrm>
          <a:prstGeom prst="rect">
            <a:avLst/>
          </a:prstGeom>
          <a:solidFill>
            <a:srgbClr val="E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0000" y="1662864"/>
            <a:ext cx="5634476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</a:rPr>
              <a:t>TROY  —  open_authority  (same input)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0000" y="1987864"/>
            <a:ext cx="5634476" cy="20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0D2B45"/>
                </a:solidFill>
              </a:rPr>
              <a:t>Cognitive bias:    black_white_thinking</a:t>
            </a:r>
          </a:p>
          <a:p>
            <a:r>
              <a:rPr b="0" sz="1100">
                <a:solidFill>
                  <a:srgbClr val="444455"/>
                </a:solidFill>
              </a:rPr>
              <a:t>  Loyalty binary — "you're with me or against me"</a:t>
            </a:r>
          </a:p>
          <a:p>
            <a:r>
              <a:rPr b="0" sz="1100">
                <a:solidFill>
                  <a:srgbClr val="444455"/>
                </a:solidFill>
              </a:rPr>
              <a:t/>
            </a:r>
          </a:p>
          <a:p>
            <a:r>
              <a:rPr b="1" sz="1100">
                <a:solidFill>
                  <a:srgbClr val="E88A1A"/>
                </a:solidFill>
              </a:rPr>
              <a:t>Desire type:       DOMINANCE</a:t>
            </a:r>
          </a:p>
          <a:p>
            <a:r>
              <a:rPr b="0" sz="1100">
                <a:solidFill>
                  <a:srgbClr val="444455"/>
                </a:solidFill>
              </a:rPr>
              <a:t>  Threat pattern + negative valence → assert dominance</a:t>
            </a:r>
          </a:p>
          <a:p>
            <a:r>
              <a:rPr b="0" sz="1100">
                <a:solidFill>
                  <a:srgbClr val="444455"/>
                </a:solidFill>
              </a:rPr>
              <a:t/>
            </a:r>
          </a:p>
          <a:p>
            <a:r>
              <a:rPr b="1" sz="1100">
                <a:solidFill>
                  <a:srgbClr val="0D2B45"/>
                </a:solidFill>
              </a:rPr>
              <a:t>Intention:         "Stand Firm"</a:t>
            </a:r>
          </a:p>
          <a:p>
            <a:r>
              <a:rPr b="0" sz="1100">
                <a:solidFill>
                  <a:srgbClr val="444455"/>
                </a:solidFill>
              </a:rPr>
              <a:t>  confrontation_level: 0.654</a:t>
            </a:r>
          </a:p>
          <a:p>
            <a:r>
              <a:rPr b="0" sz="1100">
                <a:solidFill>
                  <a:srgbClr val="444455"/>
                </a:solidFill>
              </a:rPr>
              <a:t>  expression_type: challenging</a:t>
            </a:r>
          </a:p>
          <a:p>
            <a:r>
              <a:rPr b="0" sz="1100">
                <a:solidFill>
                  <a:srgbClr val="444455"/>
                </a:solidFill>
              </a:rPr>
              <a:t/>
            </a:r>
          </a:p>
          <a:p>
            <a:r>
              <a:rPr b="1" sz="1100">
                <a:solidFill>
                  <a:srgbClr val="C03A3A"/>
                </a:solidFill>
              </a:rPr>
              <a:t>relation_delta:    −0.15</a:t>
            </a:r>
          </a:p>
          <a:p>
            <a:r>
              <a:rPr b="0" sz="1100">
                <a:solidFill>
                  <a:srgbClr val="444455"/>
                </a:solidFill>
              </a:rPr>
              <a:t/>
            </a:r>
          </a:p>
          <a:p>
            <a:r>
              <a:rPr b="1" sz="1100">
                <a:solidFill>
                  <a:srgbClr val="C03A3A"/>
                </a:solidFill>
              </a:rPr>
              <a:t>Root cause:  Troy's cog_flexibility = 0.1 (near-zero).</a:t>
            </a:r>
          </a:p>
          <a:p>
            <a:r>
              <a:rPr b="0" sz="1100">
                <a:solidFill>
                  <a:srgbClr val="444455"/>
                </a:solidFill>
              </a:rPr>
              <a:t>First impression locks in.  Hard to recover from.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4476" y="1597864"/>
            <a:ext cx="5774476" cy="2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4476" y="1597864"/>
            <a:ext cx="5774476" cy="330000"/>
          </a:xfrm>
          <a:prstGeom prst="rect">
            <a:avLst/>
          </a:prstGeom>
          <a:solidFill>
            <a:srgbClr val="C0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4476" y="1662864"/>
            <a:ext cx="5634476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</a:rPr>
              <a:t>MOSES  —  open_authority  (identical input)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4476" y="1987864"/>
            <a:ext cx="5634476" cy="20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0D2B45"/>
                </a:solidFill>
              </a:rPr>
              <a:t>Cognitive bias:    ideological_filter</a:t>
            </a:r>
          </a:p>
          <a:p>
            <a:r>
              <a:rPr b="0" sz="1100">
                <a:solidFill>
                  <a:srgbClr val="444455"/>
                </a:solidFill>
              </a:rPr>
              <a:t>  Not a loyalty test — an ideological challenge to his worldview</a:t>
            </a:r>
          </a:p>
          <a:p>
            <a:r>
              <a:rPr b="0" sz="1100">
                <a:solidFill>
                  <a:srgbClr val="444455"/>
                </a:solidFill>
              </a:rPr>
              <a:t/>
            </a:r>
          </a:p>
          <a:p>
            <a:r>
              <a:rPr b="1" sz="1100">
                <a:solidFill>
                  <a:srgbClr val="C03A3A"/>
                </a:solidFill>
              </a:rPr>
              <a:t>Desire type:       PROTECTION  +  Martyr wildcard</a:t>
            </a:r>
          </a:p>
          <a:p>
            <a:r>
              <a:rPr b="0" sz="1100">
                <a:solidFill>
                  <a:srgbClr val="444455"/>
                </a:solidFill>
              </a:rPr>
              <a:t>  Entrenched Utilitarian worldview triggered wildcard override</a:t>
            </a:r>
          </a:p>
          <a:p>
            <a:r>
              <a:rPr b="0" sz="1100">
                <a:solidFill>
                  <a:srgbClr val="444455"/>
                </a:solidFill>
              </a:rPr>
              <a:t/>
            </a:r>
          </a:p>
          <a:p>
            <a:r>
              <a:rPr b="1" sz="1100">
                <a:solidFill>
                  <a:srgbClr val="0D2B45"/>
                </a:solidFill>
              </a:rPr>
              <a:t>Intention:         "Defend Cause Passionately"</a:t>
            </a:r>
          </a:p>
          <a:p>
            <a:r>
              <a:rPr b="0" sz="1100">
                <a:solidFill>
                  <a:srgbClr val="444455"/>
                </a:solidFill>
              </a:rPr>
              <a:t>  confrontation_level: 0.978  (near-maximum)</a:t>
            </a:r>
          </a:p>
          <a:p>
            <a:r>
              <a:rPr b="0" sz="1100">
                <a:solidFill>
                  <a:srgbClr val="444455"/>
                </a:solidFill>
              </a:rPr>
              <a:t>  expression_type: explosive</a:t>
            </a:r>
          </a:p>
          <a:p>
            <a:r>
              <a:rPr b="0" sz="1100">
                <a:solidFill>
                  <a:srgbClr val="444455"/>
                </a:solidFill>
              </a:rPr>
              <a:t/>
            </a:r>
          </a:p>
          <a:p>
            <a:r>
              <a:rPr b="1" sz="1100">
                <a:solidFill>
                  <a:srgbClr val="C03A3A"/>
                </a:solidFill>
              </a:rPr>
              <a:t>relation_delta:    −0.20</a:t>
            </a:r>
          </a:p>
          <a:p>
            <a:r>
              <a:rPr b="0" sz="1100">
                <a:solidFill>
                  <a:srgbClr val="444455"/>
                </a:solidFill>
              </a:rPr>
              <a:t/>
            </a:r>
          </a:p>
          <a:p>
            <a:r>
              <a:rPr b="1" sz="1100">
                <a:solidFill>
                  <a:srgbClr val="C03A3A"/>
                </a:solidFill>
              </a:rPr>
              <a:t>Root cause:  Moses's max assertion (1.0) + Martyr wildcard.</a:t>
            </a:r>
          </a:p>
          <a:p>
            <a:r>
              <a:rPr b="0" sz="1100">
                <a:solidFill>
                  <a:srgbClr val="444455"/>
                </a:solidFill>
              </a:rPr>
              <a:t>Wildcard fires when he perceives ideological threat.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0000" y="4247864"/>
            <a:ext cx="11748952" cy="2530136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000" y="4347864"/>
            <a:ext cx="11448952" cy="2330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2AB4C4"/>
                </a:solidFill>
              </a:rPr>
              <a:t>Key finding:</a:t>
            </a:r>
          </a:p>
          <a:p>
            <a:r>
              <a:rPr b="0" sz="1200">
                <a:solidFill>
                  <a:srgbClr val="FFFFFF"/>
                </a:solidFill>
              </a:rPr>
              <a:t>The pipeline produced different bias categories, different desire states, and different intention templates</a:t>
            </a:r>
          </a:p>
          <a:p>
            <a:r>
              <a:rPr b="0" sz="1200">
                <a:solidFill>
                  <a:srgbClr val="FFFFFF"/>
                </a:solidFill>
              </a:rPr>
              <a:t>from IDENTICAL player input.  The divergence is 100% attributable to NPC personality parameters.</a:t>
            </a:r>
          </a:p>
          <a:p>
            <a:r>
              <a:rPr b="1" sz="1200">
                <a:solidFill>
                  <a:srgbClr val="2AB4C4"/>
                </a:solidFill>
              </a:rPr>
              <a:t>This is the core architectural claim of the dissertation — and the test data proves 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2A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0000" y="110000"/>
            <a:ext cx="1150000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FFFFFF"/>
                </a:solidFill>
              </a:rPr>
              <a:t>Results  —  Same NPC, Different Player Skills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0000" y="810000"/>
            <a:ext cx="11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F4F6F9"/>
                </a:solidFill>
              </a:rPr>
              <a:t>Troy: Empathy build vs Authority build — same scenario, same choice pool → opposite terminal outcomes (Chapter 6.5)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0000" y="1297864"/>
            <a:ext cx="11748952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444455"/>
                </a:solidFill>
              </a:rPr>
              <a:t>door_guard_night scenario run twice against Troy.  Same NPC, same scenario, same choices available.  Only the PlayerSkillSet changed.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220000" y="1597864"/>
            <a:ext cx="5774476" cy="2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0000" y="1597864"/>
            <a:ext cx="5774476" cy="330000"/>
          </a:xfrm>
          <a:prstGeom prst="rect">
            <a:avLst/>
          </a:prstGeom>
          <a:solidFill>
            <a:srgbClr val="2E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0000" y="1662864"/>
            <a:ext cx="5634476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</a:rPr>
              <a:t>RUN A  —  Empathy Build  →  SUCCEED  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0000" y="1987864"/>
            <a:ext cx="5634476" cy="20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0D2B45"/>
                </a:solidFill>
              </a:rPr>
              <a:t>Skills: Authority 2  |  Diplomacy 5  |  Empathy 9  |  Manipulation 2</a:t>
            </a:r>
          </a:p>
          <a:p>
            <a:r>
              <a:rPr b="0" sz="1100">
                <a:solidFill>
                  <a:srgbClr val="444455"/>
                </a:solidFill>
              </a:rPr>
              <a:t/>
            </a:r>
          </a:p>
          <a:p>
            <a:r>
              <a:rPr b="0" sz="1100">
                <a:solidFill>
                  <a:srgbClr val="444455"/>
                </a:solidFill>
              </a:rPr>
              <a:t>Turn 1: empathy-weighted dice → open_empathy</a:t>
            </a:r>
          </a:p>
          <a:p>
            <a:r>
              <a:rPr b="0" sz="1100">
                <a:solidFill>
                  <a:srgbClr val="2EA05A"/>
                </a:solidFill>
              </a:rPr>
              <a:t>  Cognitive: ideological_filter bias (POSITIVE valence +0.45)</a:t>
            </a:r>
          </a:p>
          <a:p>
            <a:r>
              <a:rPr b="0" sz="1100">
                <a:solidFill>
                  <a:srgbClr val="444455"/>
                </a:solidFill>
              </a:rPr>
              <a:t>  Desire: affiliation</a:t>
            </a:r>
          </a:p>
          <a:p>
            <a:r>
              <a:rPr b="0" sz="1100">
                <a:solidFill>
                  <a:srgbClr val="444455"/>
                </a:solidFill>
              </a:rPr>
              <a:t>  Intention: "Accept Conditionally"  |  confrontation 0.3</a:t>
            </a:r>
          </a:p>
          <a:p>
            <a:r>
              <a:rPr b="1" sz="1100">
                <a:solidFill>
                  <a:srgbClr val="2EA05A"/>
                </a:solidFill>
              </a:rPr>
              <a:t>  relation_delta: +0.25</a:t>
            </a:r>
          </a:p>
          <a:p>
            <a:r>
              <a:rPr b="0" sz="1100">
                <a:solidFill>
                  <a:srgbClr val="444455"/>
                </a:solidFill>
              </a:rPr>
              <a:t/>
            </a:r>
          </a:p>
          <a:p>
            <a:r>
              <a:rPr b="0" sz="1100">
                <a:solidFill>
                  <a:srgbClr val="444455"/>
                </a:solidFill>
              </a:rPr>
              <a:t>Turn 2: shared values confirmed</a:t>
            </a:r>
          </a:p>
          <a:p>
            <a:r>
              <a:rPr b="1" sz="1100">
                <a:solidFill>
                  <a:srgbClr val="2EA05A"/>
                </a:solidFill>
              </a:rPr>
              <a:t>  relation crosses SUCCEED threshold → terminal SUCCEED</a:t>
            </a:r>
          </a:p>
          <a:p>
            <a:r>
              <a:rPr b="0" sz="1100">
                <a:solidFill>
                  <a:srgbClr val="444455"/>
                </a:solidFill>
              </a:rPr>
              <a:t/>
            </a:r>
          </a:p>
          <a:p>
            <a:r>
              <a:rPr b="1" sz="1100">
                <a:solidFill>
                  <a:srgbClr val="2EA05A"/>
                </a:solidFill>
              </a:rPr>
              <a:t>Final player_relation: 0.85</a:t>
            </a:r>
          </a:p>
          <a:p>
            <a:r>
              <a:rPr b="1" sz="1100">
                <a:solidFill>
                  <a:srgbClr val="2EA05A"/>
                </a:solidFill>
              </a:rPr>
              <a:t>Turns to terminal: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4476" y="1597864"/>
            <a:ext cx="5774476" cy="2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4476" y="1597864"/>
            <a:ext cx="5774476" cy="330000"/>
          </a:xfrm>
          <a:prstGeom prst="rect">
            <a:avLst/>
          </a:prstGeom>
          <a:solidFill>
            <a:srgbClr val="C0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4476" y="1662864"/>
            <a:ext cx="5634476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</a:rPr>
              <a:t>RUN B  —  Authority Build  →  FAIL  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4476" y="1987864"/>
            <a:ext cx="5634476" cy="20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0D2B45"/>
                </a:solidFill>
              </a:rPr>
              <a:t>Skills: Authority 9  |  Diplomacy 5  |  Empathy 2  |  Manipulation 2</a:t>
            </a:r>
          </a:p>
          <a:p>
            <a:r>
              <a:rPr b="0" sz="1100">
                <a:solidFill>
                  <a:srgbClr val="444455"/>
                </a:solidFill>
              </a:rPr>
              <a:t/>
            </a:r>
          </a:p>
          <a:p>
            <a:r>
              <a:rPr b="0" sz="1100">
                <a:solidFill>
                  <a:srgbClr val="444455"/>
                </a:solidFill>
              </a:rPr>
              <a:t>Turn 1: authority-weighted dice → open_authority</a:t>
            </a:r>
          </a:p>
          <a:p>
            <a:r>
              <a:rPr b="0" sz="1100">
                <a:solidFill>
                  <a:srgbClr val="C03A3A"/>
                </a:solidFill>
              </a:rPr>
              <a:t>  Cognitive: black_white_thinking bias (NEGATIVE valence −0.45)</a:t>
            </a:r>
          </a:p>
          <a:p>
            <a:r>
              <a:rPr b="0" sz="1100">
                <a:solidFill>
                  <a:srgbClr val="444455"/>
                </a:solidFill>
              </a:rPr>
              <a:t>  Desire: dominance</a:t>
            </a:r>
          </a:p>
          <a:p>
            <a:r>
              <a:rPr b="0" sz="1100">
                <a:solidFill>
                  <a:srgbClr val="444455"/>
                </a:solidFill>
              </a:rPr>
              <a:t>  Intention: "Stand Firm"  |  confrontation 0.654</a:t>
            </a:r>
          </a:p>
          <a:p>
            <a:r>
              <a:rPr b="1" sz="1100">
                <a:solidFill>
                  <a:srgbClr val="C03A3A"/>
                </a:solidFill>
              </a:rPr>
              <a:t>  relation_delta: −0.15</a:t>
            </a:r>
          </a:p>
          <a:p>
            <a:r>
              <a:rPr b="0" sz="1100">
                <a:solidFill>
                  <a:srgbClr val="444455"/>
                </a:solidFill>
              </a:rPr>
              <a:t/>
            </a:r>
          </a:p>
          <a:p>
            <a:r>
              <a:rPr b="0" sz="1100">
                <a:solidFill>
                  <a:srgbClr val="444455"/>
                </a:solidFill>
              </a:rPr>
              <a:t>Turns 2–3: Troy's cog_flexibility = 0.1 locks in first impression.</a:t>
            </a:r>
          </a:p>
          <a:p>
            <a:r>
              <a:rPr b="0" sz="1100">
                <a:solidFill>
                  <a:srgbClr val="444455"/>
                </a:solidFill>
              </a:rPr>
              <a:t>  Recovery attempts fail — negative momentum compounds.</a:t>
            </a:r>
          </a:p>
          <a:p>
            <a:r>
              <a:rPr b="1" sz="1100">
                <a:solidFill>
                  <a:srgbClr val="C03A3A"/>
                </a:solidFill>
              </a:rPr>
              <a:t>  Terminal FAIL reached at turn 3.</a:t>
            </a:r>
          </a:p>
          <a:p>
            <a:r>
              <a:rPr b="0" sz="1100">
                <a:solidFill>
                  <a:srgbClr val="444455"/>
                </a:solidFill>
              </a:rPr>
              <a:t/>
            </a:r>
          </a:p>
          <a:p>
            <a:r>
              <a:rPr b="1" sz="1100">
                <a:solidFill>
                  <a:srgbClr val="C03A3A"/>
                </a:solidFill>
              </a:rPr>
              <a:t>Final player_relation: 0.2</a:t>
            </a:r>
          </a:p>
          <a:p>
            <a:r>
              <a:rPr b="0" sz="1100">
                <a:solidFill>
                  <a:srgbClr val="444455"/>
                </a:solidFill>
              </a:rPr>
              <a:t>cog_flexibility did not shift across any turn.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0000" y="4247864"/>
            <a:ext cx="11748952" cy="2530136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000" y="4347864"/>
            <a:ext cx="11448952" cy="2330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2AB4C4"/>
                </a:solidFill>
              </a:rPr>
              <a:t>Key finding:</a:t>
            </a:r>
          </a:p>
          <a:p>
            <a:r>
              <a:rPr b="0" sz="1200">
                <a:solidFill>
                  <a:srgbClr val="FFFFFF"/>
                </a:solidFill>
              </a:rPr>
              <a:t>Same NPC.  Same scenario.  Same choice pool.  Different skill distribution → different dice bias →</a:t>
            </a:r>
          </a:p>
          <a:p>
            <a:r>
              <a:rPr b="0" sz="1200">
                <a:solidFill>
                  <a:srgbClr val="FFFFFF"/>
                </a:solidFill>
              </a:rPr>
              <a:t>different bias activation → different desire → different intention → opposite terminal outcome.</a:t>
            </a:r>
          </a:p>
          <a:p>
            <a:r>
              <a:rPr b="1" sz="1200">
                <a:solidFill>
                  <a:srgbClr val="2AB4C4"/>
                </a:solidFill>
              </a:rPr>
              <a:t>Player agency is real, mechanically grounded, and fully traceable through the pipeline logs.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