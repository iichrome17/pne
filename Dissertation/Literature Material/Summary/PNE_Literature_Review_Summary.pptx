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A623"/>
                </a:solidFill>
                <a:latin typeface="Calibri"/>
              </a:rPr>
              <a:t>PSYCHOLOGICAL NARRATIVE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Literature Review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429000"/>
            <a:ext cx="57881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0D8EE"/>
                </a:solidFill>
                <a:latin typeface="Calibri"/>
              </a:rPr>
              <a:t>A plain-English guide to each source:
what it says, how it connects to PNE, and what to write in Chapter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D0D8EE"/>
                </a:solidFill>
                <a:latin typeface="Calibri"/>
              </a:rPr>
              <a:t>Jerome Bawa  ·  CS3IP Dissertation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5FC1"/>
                </a:solidFill>
                <a:latin typeface="Calibri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14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BDI Models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611880"/>
            <a:ext cx="4114800" cy="54864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79476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D8EE"/>
                </a:solidFill>
                <a:latin typeface="Calibri"/>
              </a:rPr>
              <a:t>Three foundational texts on Belief-Desire-Intention agent architectures — the theoretical and practical basis for PNE's cognitive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BDI Models  ·  SLIDE 1 OF 3  ·  THE GIST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Reasoning about Rational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Michael Wooldridge  ·  2000  ·  MIT 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5FC1"/>
                </a:solidFill>
                <a:latin typeface="Calibri"/>
              </a:rPr>
              <a:t>What Is This Book About?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This book is the go-to textbook for understanding how intelligent agents (software programs that act on their own) make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It explains the BDI model: agents hold Beliefs (what they know), Desires (what they want), and Intentions (what they commit to doing).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Think of it like modelling a person's thought process: you believe it's raining, you desire to stay dry, so you intend to grab an umbrella.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Wooldridge shows how to turn this philosophy into working code — agents that reason step-by-step about their goals and update their plans when the world changes.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5221224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5120640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It also compares BDI to other agent types (reactive agents that just respond, logic-based agents that reason from rules) and explains trade-offs.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BDI Models  ·  SLIDE 2 OF 3  ·  PNE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Reasoning about Rational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Michael Wooldridge  ·  2000  ·  MIT 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5FC1"/>
                </a:solidFill>
                <a:latin typeface="Calibri"/>
              </a:rPr>
              <a:t>How Does This Apply to PNE?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PNE's entire processing pipeline is a BDI loop: each player turn triggers belief update → desire formation → intention selection.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Wooldridge's formalism justifies WHY this three-stage structure is the right model for NPCs that need to 'think' rather than just pattern-match.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The book's discussion of intention persistence (agents don't drop goals at the first obstacle) maps to PNE's recovery mechanic — NPCs don't flip immediately on one failed roll.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It provides the academic authority to say 'PNE is a BDI agent system' rather than just 'PNE uses if-then rules with extra steps'.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5221224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5120640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Also useful for contrasting: Wooldridge's agents use formal logic; PNE uses template-matching — a deliberate pragmatic trade-off this book lets you articulate.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BDI Models  ·  SLIDE 3 OF 3  ·  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Reasoning about Rational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Michael Wooldridge  ·  2000  ·  MIT 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5FC1"/>
                </a:solidFill>
                <a:latin typeface="Calibri"/>
              </a:rPr>
              <a:t>What to Write in Chapter 2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Open by citing Wooldridge as the foundational definition of BDI: beliefs, desires, and intentions as distinct representational states that drive rational action.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Use it to explain WHY BDI is the right cognitive model for NPCs: it captures goal-directedness, context-sensitivity, and the ability to revise plans.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Contrast: Wooldridge's theoretical BDI agents use formal logic proofs; PNE uses weighted template-matching. Acknowledge this and argue it's a practical design choice for real-time game dialogue.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Reference in the paragraph that introduces BDI before discussing Rao &amp; Georgeff and Bratman — Wooldridge synthesises both into an accessible framework.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BDI Models  ·  SLIDE 1 OF 3  ·  THE GIST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Programming Multi-Agent Systems in AgentSpeak using Jason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Bordini, Hübner &amp; Wooldridge  ·  2007  ·  Wiley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5FC1"/>
                </a:solidFill>
                <a:latin typeface="Calibri"/>
              </a:rPr>
              <a:t>What Is This Book About?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This is the practical companion to BDI theory: a book showing you how to actually BUILD multi-agent systems using a language called AgentSpeak (implemented in the Jason framework).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AgentSpeak lets you write agents as a list of 'plans': if I believe X and want Y, then do Z. Agents run many plans in parallel and pick the best one for the situation.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Jason is used in research and teaching as a reference implementation of BDI — it's the closest thing to a 'canonical' BDI programming environment.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The book covers belief bases, goal-directed behaviour, plan libraries, and how multiple agents communicate and coordinate with each other.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BDI Models  ·  SLIDE 2 OF 3  ·  PNE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Programming Multi-Agent Systems in AgentSpeak using Jason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Bordini, Hübner &amp; Wooldridge  ·  2007  ·  Wiley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5FC1"/>
                </a:solidFill>
                <a:latin typeface="Calibri"/>
              </a:rPr>
              <a:t>How Does This Apply to PNE?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Jason stores agent behaviour in external plan libraries (files of if-then rules). PNE stores NPC cognition in cognitive_thoughts.json and the intention registry — a similar concept, different implementation.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This is the key CONTRAST: Jason agents select plans dynamically at runtime from a formal library. PNE selects templates via weighted matching — simpler, faster, easier for game authors to edit.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Using this as a contrast lets you argue that PNE makes a deliberate trade-off: less formal correctness, more authorial control and runtime speed — appropriate for real-time game dialogue.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Also useful for showing PNE is aware of the field: you know what a 'proper' BDI implementation looks like, and you made conscious choices to deviate.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BDI Models  ·  SLIDE 3 OF 3  ·  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Programming Multi-Agent Systems in AgentSpeak using Jason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Bordini, Hübner &amp; Wooldridge  ·  2007  ·  Wiley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5FC1"/>
                </a:solidFill>
                <a:latin typeface="Calibri"/>
              </a:rPr>
              <a:t>What to Write in Chapter 2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Use Jason as the primary contrast case for PNE's BDI implementation: 'Where established BDI frameworks such as Jason externalise agent reasoning in formal plan libraries, PNE internalises cognition through template-matching...'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This lets you show you understand the state of the art and have made deliberate, reasoned design choices rather than simply not knowing the alternatives.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Mention it after introducing Wooldridge's theory — Jason is theory in practice, which then positions PNE as a further pragmatic adaptation of that practice for game contexts.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Keep it brief: 3-5 sentences. Its main job is contrast, not detailed description.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BDI Models  ·  SLIDE 1 OF 3  ·  THE GIST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The Belief-Desire-Intention Model of Agency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Georgeff, Pell, Pollack, Tambe &amp; Wooldridge  ·  1999  ·  Intelligent Agents V, LNCS 1555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5FC1"/>
                </a:solidFill>
                <a:latin typeface="Calibri"/>
              </a:rPr>
              <a:t>What Is This Paper About?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A short, dense retrospective written by the people who actually built the BDI model. It reviews 10+ years of BDI research from theory to working implementations.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They explain the gap between Bratman's philosophical BDI (1987 — a theory of human planning) and the computational BDI used in AI (Rao &amp; Georgeff, 1995).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The paper argues that BDI isn't just one thing: there are many variants, and different applications need different versions. Some emphasise belief revision, others commitment, others communication.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It reads as a 'state of the art' snapshot: here's what BDI can do, here's what's still hard, here's where it should 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BDI Models  ·  SLIDE 2 OF 3  ·  PNE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The Belief-Desire-Intention Model of Agency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Georgeff, Pell, Pollack, Tambe &amp; Wooldridge  ·  1999  ·  Intelligent Agents V, LNCS 1555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5FC1"/>
                </a:solidFill>
                <a:latin typeface="Calibri"/>
              </a:rPr>
              <a:t>How Does This Apply to PNE?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This paper is the bridge between Bratman (philosophy) and Rao &amp; Georgeff (formalisation) — both already cited in Chapter 1. It contextualises both in one place.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The authors' point that BDI has many variants is directly relevant: PNE is another variant, adapted for NPC dialogue rather than autonomous robots or logic-based planning.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Their discussion of intention commitment maps to PNE's design: NPCs maintain an intention through a turn (they don't abandon mid-sentence), but update between turns.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Validates the choice to use BDI as a framework at all: if the architects of BDI say it generalises across domains, that supports applying it to NPC conversation.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BDI Models  ·  SLIDE 3 OF 3  ·  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The Belief-Desire-Intention Model of Agency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Georgeff, Pell, Pollack, Tambe &amp; Wooldridge  ·  1999  ·  Intelligent Agents V, LNCS 1555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5FC1"/>
                </a:solidFill>
                <a:latin typeface="Calibri"/>
              </a:rPr>
              <a:t>What to Write in Chapter 2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Use this as the citation when you describe the evolution from Bratman's philosophy to computational BDI: 'Georgeff et al. (1999) trace this development, noting that BDI has been instantiated in multiple computational frameworks...'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It's particularly useful for the sentence that acknowledges BDI variants exist and positions PNE within that landscape.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Works well as a secondary citation alongside Rao &amp; Georgeff (1995) — they're companions. Don't need more than a paragraph; its role is intellectual lineage.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2E5F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Good for the opening of your BDI section in Chapter 2 before you get into Wooldridge's framework in detail.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807A"/>
                </a:solidFill>
                <a:latin typeface="Calibri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14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Cognitive Psychology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611880"/>
            <a:ext cx="4114800" cy="54864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79476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D8EE"/>
                </a:solidFill>
                <a:latin typeface="Calibri"/>
              </a:rPr>
              <a:t>Three texts from cognitive psychology that ground PNE's belief formation, cognitive bias modelling, and attribution system in established theory.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Cognitive Psychology  ·  SLIDE 1 OF 3  ·  THE GIST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Cognitive Psychology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Ulric Neisser  ·  1967  ·  Appleton-Century-Crofts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807A"/>
                </a:solidFill>
                <a:latin typeface="Calibri"/>
              </a:rPr>
              <a:t>What Is This Book About?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The book that invented the field. Neisser coined the term 'cognitive psychology' and established that the mind actively constructs its understanding of the world — it doesn't just passively receive information.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Central idea: SCHEMA THEORY. We don't experience reality directly; we interpret it through mental frameworks (schemas) built from past experience. Two people can see the same event very differently.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He introduces the idea that perception, memory, and thinking are all constructive processes — the brain fills in gaps, makes assumptions, and applies patterns.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This was radical in 1967 because psychology before it was behaviourist: only observable behaviour mattered. Neisser opened the 'black box' of the mind.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Cognitive Psychology  ·  SLIDE 2 OF 3  ·  PNE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Cognitive Psychology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Ulric Neisser  ·  1967  ·  Appleton-Century-Crofts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807A"/>
                </a:solidFill>
                <a:latin typeface="Calibri"/>
              </a:rPr>
              <a:t>How Does This Apply to PNE?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Schema theory is the direct theoretical basis for PNE's cognitive interpretation layer: NPCs don't hear the player's words neutrally — they interpret them through their cognitive schema (self_esteem, locus_of_control, cog_flexibility).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The 810 templates in cognitive_thoughts.json are literally schema-driven interpretations: the same player input produces different NPC thoughts depending on which schema is active.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Neisser's constructivism justifies WHY NPCs with different cognitive profiles should generate different beliefs from identical input — it mirrors how humans actually work.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Gives academic grounding to the design decision to make cognition template-based rather than neutral or random.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Cognitive Psychology  ·  SLIDE 3 OF 3  ·  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Cognitive Psychology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Ulric Neisser  ·  1967  ·  Appleton-Century-Crofts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807A"/>
                </a:solidFill>
                <a:latin typeface="Calibri"/>
              </a:rPr>
              <a:t>What to Write in Chapter 2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Use Neisser to introduce the cognitive psychology section: 'Neisser (1967) established that human perception is an active, constructive process mediated by cognitive schemas — pre-existing frameworks that shape interpretation of new information.'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Then connect to PNE: 'This constructivist model provides the theoretical basis for PNE's cognitive interpretation layer, in which NPC personality parameters modulate the template selected to interpret player input.'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Keep it foundational — 2-3 sentences. Its job is to give the cognitive section its theoretical footing before you get into Beck and Ellis.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Positions PNE's design as grounded in decades of cognitive science, not invented from scratch.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Cognitive Psychology  ·  SLIDE 1 OF 3  ·  THE GIST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Reason and Emotion in Psychotherapy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Albert Ellis  ·  1962  ·  Lyle Stuart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807A"/>
                </a:solidFill>
                <a:latin typeface="Calibri"/>
              </a:rPr>
              <a:t>What Is This Book About?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Ellis created Rational Emotive Behaviour Therapy (REBT) and this is its founding text. Core idea: it's not what happens to you that causes distress — it's what you BELIEVE about what happens.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He introduces the A-B-C model: A (Activating event) → B (Belief about it) → C (emotional Consequence). Same event, different belief, completely different emotional outcome.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Ellis catalogued irrational beliefs — systematic errors in thinking that lead people to feel and behave in self-defeating ways. Things like 'if someone disagrees with me, they must hate me.'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The book is practical and clinical, but the underlying model is deeply cognitive: what matters is the interpretive step between stimulus and response.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Cognitive Psychology  ·  SLIDE 2 OF 3  ·  PNE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Reason and Emotion in Psychotherapy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Albert Ellis  ·  1962  ·  Lyle Stuart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807A"/>
                </a:solidFill>
                <a:latin typeface="Calibri"/>
              </a:rPr>
              <a:t>How Does This Apply to PNE?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The A-B-C model IS the PNE cognitive pipeline: player input (A) → NPC belief via template-matching (B) → emotional valence + desire formation (C).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Ellis's irrational beliefs map directly to PNE's cognitive bias types: hostile attribution ('they must mean harm') is an irrational belief; cynical realism and projection are others.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The idea that the same event triggers different beliefs in different people validates having different cognitive templates for NPCs with different bias profiles.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Desire formation in PNE (information-seeking, affiliation, protection, dominance) mirrors Ellis's emotional consequences — what the NPC 'wants' emerges from what they 'believe'.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Cognitive Psychology  ·  SLIDE 3 OF 3  ·  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Reason and Emotion in Psychotherapy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Albert Ellis  ·  1962  ·  Lyle Stuart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807A"/>
                </a:solidFill>
                <a:latin typeface="Calibri"/>
              </a:rPr>
              <a:t>What to Write in Chapter 2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Cite Ellis when explaining the cognitive interpretation → desire pipeline: 'Ellis's A-B-C model (1962) provides a structural parallel: the player's dialogue choice constitutes the activating event (A); the NPC's template-matched thought constitutes the belief (B); the resulting desire state constitutes the emotional consequence (C).'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Use this to show the pipeline has a grounded psychological model behind it, not an arbitrary three-step sequence.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Also use Ellis when defining the cognitive bias types in cognitive_thoughts.json — his irrational belief categories are the intellectual ancestors of those bias labels.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3-5 sentences is enough. Its main role is structural analogy between REBT and the PNE pipeline.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Cognitive Psychology  ·  SLIDE 1 OF 3  ·  THE GIST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The Psychology of Interpersonal Relations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Fritz Heider  ·  1958  ·  Wiley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807A"/>
                </a:solidFill>
                <a:latin typeface="Calibri"/>
              </a:rPr>
              <a:t>What Is This Book About?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The book that founded attribution theory — the study of how people explain other people's behaviour. When someone does something, do you assume it's because of WHO THEY ARE or because of the SITUATION they're in?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Heider called these internal attribution (personality, intent) vs external attribution (circumstances, accident). Crucially: people tend to over-attribute to personality and under-attribute to situation (the 'fundamental attribution error').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He also introduced the concept of BALANCE: people feel uncomfortable when their beliefs about relationships are inconsistent (e.g. liking someone who dislikes your friend creates psychological tension).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The whole book is about how ordinary people make sense of social reality — their naive 'folk psychology' of intentions, reasons, and causes.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Cognitive Psychology  ·  SLIDE 2 OF 3  ·  PNE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The Psychology of Interpersonal Relations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Fritz Heider  ·  1958  ·  Wiley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807A"/>
                </a:solidFill>
                <a:latin typeface="Calibri"/>
              </a:rPr>
              <a:t>How Does This Apply to PNE?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Attribution theory is the engine behind locus_of_control in PNE: an NPC with high external locus attributes player behaviour to circumstances; high internal locus attributes it to the player's character and intent.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Hostile attribution bias (the most used bias type in cognitive_thoughts.json) is a direct application of Heider: the NPC assumes the player's intent is hostile regardless of the actual words used.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The balance theory maps to player_relation: relationship tension (low relation + positive player input) produces cognitive dissonance in the NPC — which the desire layer resolves by seeking 'information' or 'protection'.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Heider grounds the whole cognitive interpretation layer in decades of social cognition research.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Cognitive Psychology  ·  SLIDE 3 OF 3  ·  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The Psychology of Interpersonal Relations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Fritz Heider  ·  1958  ·  Wiley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807A"/>
                </a:solidFill>
                <a:latin typeface="Calibri"/>
              </a:rPr>
              <a:t>What to Write in Chapter 2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Use Heider to introduce attribution as the mechanism behind locus_of_control: 'Heider (1958) established that individuals differ systematically in whether they attribute others' behaviour to internal disposition or external circumstance — a distinction formalised in PNE's locus_of_control parameter.'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Also cite when defining hostile attribution bias: it is Heider's internal attribution applied in its most extreme and distorted form.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Works best as a 3-4 sentence supporting citation in the cognitive psychology section, after Neisser and Ellis have established the schema/belief framework.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1A8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Gives PNE's personality parameters a specific theoretical lineage, not just a list of made-up sliders.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3AB0"/>
                </a:solidFill>
                <a:latin typeface="Calibri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14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Social Psychology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611880"/>
            <a:ext cx="4114800" cy="54864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79476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D8EE"/>
                </a:solidFill>
                <a:latin typeface="Calibri"/>
              </a:rPr>
              <a:t>Three works on persuasion, social identity, and impression management — the theoretical basis for PNE's Language Arts and behavioural intention systems.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Social Psychology  ·  SLIDE 1 OF 3  ·  THE GIST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Influence: The Psychology of Persuasion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Robert B. Cialdini  ·  1984  ·  Harper Collins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B3AB0"/>
                </a:solidFill>
                <a:latin typeface="Calibri"/>
              </a:rPr>
              <a:t>What Is This Book About?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One of the most widely-read books in social psychology. Cialdini studied compliance professionals (salespeople, negotiators, advertisers) to find universal principles of persuasion.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He identified six principles: Reciprocity (you gave me something, so I owe you), Commitment (once I agree, I keep agreeing), Social Proof (others are doing it), Authority (experts say so), Liking (I'm more persuaded by people I like), and Scarcity (less available = more desirable).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The core insight: humans use mental shortcuts (heuristics) when deciding whether to comply with a request. These shortcuts can be triggered deliberately by framing the same request in different ways.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It's both a description of how persuasion works psychologically AND a practical guide to the techniques — making it unusually applicable to dialogue design.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Social Psychology  ·  SLIDE 2 OF 3  ·  PNE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Influence: The Psychology of Persuasion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Robert B. Cialdini  ·  1984  ·  Harper Collins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B3AB0"/>
                </a:solidFill>
                <a:latin typeface="Calibri"/>
              </a:rPr>
              <a:t>How Does This Apply to PNE?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PNE's four Language Arts (authority, diplomacy, empathy, manipulation) map almost directly onto Cialdini's six principles: authority→Authority, diplomacy→Liking+Reciprocity, empathy→Liking, manipulation→Social Proof+Scarcity+Commitment.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This gives the Language Arts system a rigorous theoretical grounding: they're not arbitrary dialogue flavours, they're implementations of empirically validated persuasion mechanisms.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Cialdini's insight that the SAME request can succeed or fail depending on framing mirrors PNE's design: the same choice text at different tone_weights produces different NPC responses.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Also relevant to the social intention layer: NPC intentions like 'Assert Dominance' or 'Seek Connection' are Cialdini principles enacted from the NPC's side.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Social Psychology  ·  SLIDE 3 OF 3  ·  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Influence: The Psychology of Persuasion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Robert B. Cialdini  ·  1984  ·  Harper Collins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B3AB0"/>
                </a:solidFill>
                <a:latin typeface="Calibri"/>
              </a:rPr>
              <a:t>What to Write in Chapter 2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Use Cialdini to anchor the Language Arts system: 'PNE's four Language Arts — authority, diplomacy, empathy, and manipulation — are grounded in Cialdini's (1984) six principles of persuasion, which establish that compliance is reliably modulated by the rhetorical framing of a request rather than its content alone.'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This is a strong paragraph because it both cites a well-known work AND shows that PNE's design decisions weren't arbitrary.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Also reference when discussing NPC intention selection — the social layer chooses intentions that mirror Cialdini's compliance triggers from the NPC's perspective.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Around 4-6 sentences total across the social psychology section.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Social Psychology  ·  SLIDE 1 OF 3  ·  THE GIST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Social Comparison and Social Psychology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Serge Guimond (Ed.)  ·  2006  ·  Cambridge University 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B3AB0"/>
                </a:solidFill>
                <a:latin typeface="Calibri"/>
              </a:rPr>
              <a:t>What Is This Book About?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An edited academic volume collecting research on social comparison theory — the idea (originally Festinger, 1954) that humans evaluate their own opinions and abilities by comparing themselves to others.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The book extends this into cognition, intergroup relations, and cross-cultural contexts: not just 'am I better or worse than this person' but 'how does my GROUP compare to other groups, and how does that shape my identity?'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Key chapters cover how social comparisons drive self-esteem, how group membership shapes what comparisons feel relevant, and how culture moderates these effects.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Guimond also synthesises the link between social comparison and Social Identity Theory (Tajfel &amp; Turner) — in-group favouritism emerges partly from self-evaluative comparisons.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Social Psychology  ·  SLIDE 2 OF 3  ·  PNE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Social Comparison and Social Psychology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Serge Guimond (Ed.)  ·  2006  ·  Cambridge University 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B3AB0"/>
                </a:solidFill>
                <a:latin typeface="Calibri"/>
              </a:rPr>
              <a:t>How Does This Apply to PNE?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NPC self_esteem in PNE is partly a social comparison construct: how does the NPC rate themselves relative to the player, their faction, their rivals? Guimond provides the theoretical basis for this.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Faction dynamics in PNE (in-group/out-group tension when a player from outside the Insurgency talks to Troy) are grounded in the intergroup comparison mechanisms Guimond covers.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conf_indep (confidence/independence) is influenced by social comparison: an NPC who constantly compares themselves to stronger figures will have lower conf_indep, affecting intention selection.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Also supports the idea that player_relation isn't just a number — it represents the NPC's ongoing social self-evaluation relative to the player.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Social Psychology  ·  SLIDE 3 OF 3  ·  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Social Comparison and Social Psychology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Serge Guimond (Ed.)  ·  2006  ·  Cambridge University 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B3AB0"/>
                </a:solidFill>
                <a:latin typeface="Calibri"/>
              </a:rPr>
              <a:t>What to Write in Chapter 2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Use Guimond to ground self_esteem and faction-based NPC behaviour: 'Guimond (2006) establishes that self-evaluation is inherently comparative and socially situated — an individual's self-esteem is modulated by perceived standing relative to in-group and out-group members, a dynamic encoded in PNE's self_esteem and faction parameters.'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Keeps the social psychology section from being only about persuasion (Cialdini) — adds the dimension of identity and group membership.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3-4 sentences is sufficient. Position it after Cialdini, before Goffman — it bridges persuasion mechanisms and the performative self-presentation Goffman covers.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Social Psychology  ·  SLIDE 1 OF 3  ·  THE GIST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The Presentation of Self in Everyday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Erving Goffman  ·  1959  ·  Anchor Books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B3AB0"/>
                </a:solidFill>
                <a:latin typeface="Calibri"/>
              </a:rPr>
              <a:t>What Is This Book About?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Goffman's most famous work introduces DRAMATURGICAL THEORY: social life is essentially a performance. We are all actors on a stage, constantly managing the impressions we give to others.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He distinguishes FRONT STAGE behaviour (what we present to others — careful, curated, role-appropriate) from BACK STAGE behaviour (how we actually are when nobody is watching).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Key concepts: impression management (deliberate control of how you appear), face-work (protecting your social dignity and others'), and region behaviour (adapting your performance to the audience and setting).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Social interaction isn't natural spontaneous expression — it's a skilled, collaborative, moment-by-moment negotiation of meaning and identity.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Social Psychology  ·  SLIDE 2 OF 3  ·  PNE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The Presentation of Self in Everyday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Erving Goffman  ·  1959  ·  Anchor Books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B3AB0"/>
                </a:solidFill>
                <a:latin typeface="Calibri"/>
              </a:rPr>
              <a:t>How Does This Apply to PNE?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PNE's 19 canonical behavioural intentions are performative social acts in Goffman's sense: 'Assert Dominance', 'Deflect with Humour', 'Defend Cause Passionately' are all impression management strategies.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NPCs in PNE have a public persona (their social layer — assertion, empathy, faction) and an internal cognitive state. The gap between these layers IS Goffman's front-stage/back-stage distinction.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The choice filter and coherence system ensure NPC dialogue stays in-role — Goffman would call this maintaining a consistent 'performance' to avoid breaking the player's immersion.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When NPC confrontation_level rises, they 'break character' from their usual front-stage self — this maps to Goffman's concept of frame breaks.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Social Psychology  ·  SLIDE 3 OF 3  ·  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The Presentation of Self in Everyday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Erving Goffman  ·  1959  ·  Anchor Books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B3AB0"/>
                </a:solidFill>
                <a:latin typeface="Calibri"/>
              </a:rPr>
              <a:t>What to Write in Chapter 2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Use Goffman to justify the separation between NPC's internal BDI state and their expressed dialogue: 'Goffman (1959) characterises social interaction as performance: individuals manage impressions through deliberate presentation of a curated self. PNE encodes this separation structurally — the BDI pipeline determines what the NPC thinks, while the intention layer and LLM determine what they say.'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This is a powerful point that distinguishes PNE from naive dialogue systems where what the NPC 'feels' IS what they say.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Also useful in the evaluation chapter: Goffman's dramaturgical lens provides a qualitative framework for assessing whether NPC behaviour feels socially authentic.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6B3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3-5 sentences, positioned at the end of the social psychology section as a capstone.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14B2E"/>
                </a:solidFill>
                <a:latin typeface="Calibri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14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Narrative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611880"/>
            <a:ext cx="4114800" cy="54864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79476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0D8EE"/>
                </a:solidFill>
                <a:latin typeface="Calibri"/>
              </a:rPr>
              <a:t>Two foundational interactive narrative texts: one establishing what good interactive narrative should achieve, one defining the emergent narrative problem PNE is designed to solve.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Narrative Design  ·  SLIDE 1 OF 3  ·  THE GIST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Hamlet on the Holodeck: The Future of Narrative in Cyberspace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Janet H. Murray  ·  1997  ·  Free 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14B2E"/>
                </a:solidFill>
                <a:latin typeface="Calibri"/>
              </a:rPr>
              <a:t>What Is This Book About?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The founding text of interactive narrative studies. Murray asks: what would it look like if the computer became a storytelling medium as rich and culturally significant as the novel or film?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She identifies three properties that make digital environments unique as narrative spaces: AGENCY (the player makes meaningful choices), IMMERSION (you feel you are inside the story world), and TRANSFORMATION (the story world changes in response to you).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Murray argues that the challenge of interactive narrative is to give players genuine agency WITHOUT destroying the authorial craft of the story — a tension she calls the 'Holodeck' problem.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The book is full of examples from early interactive fiction, games, and theory — written before modern open-world games existed, but remarkably prescient.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Narrative Design  ·  SLIDE 2 OF 3  ·  PNE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Hamlet on the Holodeck: The Future of Narrative in Cyberspace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Janet H. Murray  ·  1997  ·  Free 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14B2E"/>
                </a:solidFill>
                <a:latin typeface="Calibri"/>
              </a:rPr>
              <a:t>How Does This Apply to PNE?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PNE is explicitly designed to produce all three of Murray's properties: AGENCY (skill-check choices with real consequence), IMMERSION (LLM-generated natural dialogue grounded in BDI state), TRANSFORMATION (judgement score changes the NPC and routes the story).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Murray's 'Holodeck problem' is exactly what PNE solves at the dialogue level: how do you give players real choice in NPC conversations without making the NPC incoherent or breaking narrative structure?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The FSM + judgement-score system is PNE's answer to the agency/authorship tension: players have agency over OUTCOMES, but scenario authors retain control over STRUCTURE.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Murray's framework gives you a vocabulary to evaluate PNE against — use it explicitly in Chapter 5.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Narrative Design  ·  SLIDE 3 OF 3  ·  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Hamlet on the Holodeck: The Future of Narrative in Cyberspace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Janet H. Murray  ·  1997  ·  Free Press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14B2E"/>
                </a:solidFill>
                <a:latin typeface="Calibri"/>
              </a:rPr>
              <a:t>What to Write in Chapter 2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Use Murray to frame the entire interactive narrative section: 'Murray (1997) identifies agency, immersion, and transformation as the three properties that distinguish digital narrative from static storytelling. These properties frame the design objectives of PNE...'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Then map each property to a PNE feature: agency → skill-check system; immersion → LLM dialogue generation; transformation → judgement-driven FSM routing.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Also use Murray's Holodeck problem to motivate WHY PNE is needed: existing dialogue trees (Mass Effect, Witcher) solve authorship but sacrifice agency; procedural systems risk sacrificing narrative coherence.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Murray should open the narrative design section — it provides the evaluative framework that all other narrative sources then fill in.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Narrative Design  ·  SLIDE 1 OF 3  ·  THE GIST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Narrative in Virtual Environments — Towards Emergent Narrative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Ruth Aylett  ·  1999  ·  AAAI Fall Symposium on Narrative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14B2E"/>
                </a:solidFill>
                <a:latin typeface="Calibri"/>
              </a:rPr>
              <a:t>What Is This Paper About?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A landmark 8-page paper that defined the concept of EMERGENT NARRATIVE for the AI and games research community.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Aylett argues there are two ends of a spectrum: AUTHORED narrative (a fixed story, the player just experiences it) and EMERGENT narrative (characters with goals and beliefs act autonomously — story emerges from their interactions).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She argues that believable interactive narrative requires moving away from authored scripts toward characters that are genuine autonomous agents with their own internal states.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The problem: pure emergent narrative is hard to author and hard to guarantee will produce satisfying drama. Aylett acknowledges the tension — interesting drama may require a human shaping hand.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Narrative Design  ·  SLIDE 2 OF 3  ·  PNE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Narrative in Virtual Environments — Towards Emergent Narrative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Ruth Aylett  ·  1999  ·  AAAI Fall Symposium on Narrative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14B2E"/>
                </a:solidFill>
                <a:latin typeface="Calibri"/>
              </a:rPr>
              <a:t>How Does This Apply to PNE?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PNE sits deliberately in the MIDDLE of Aylett's spectrum: NPCs are autonomous agents (BDI pipeline, emergent responses) BUT within an authored scenario graph (FSM nodes authored by a human).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This is the key design claim: PNE produces emergent dialogue behaviour (no pre-scripted response) within a structured narrative (authored FSM transitions). Both properties at once.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Aylett's problem — that pure emergence is hard to control for drama — is exactly why PNE has the judgement score and FSM: the author shapes the story arc, the BDI produces the emergent texture.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Citing Aylett lets you position PNE as a deliberate resolution to a known problem in the field, not just a feature list.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12079224" cy="13258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A623"/>
                </a:solidFill>
                <a:latin typeface="Calibri"/>
              </a:rPr>
              <a:t>Narrative Design  ·  SLIDE 3 OF 3  ·  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38404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Narrative in Virtual Environments — Towards Emergent Narrative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841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D8EE"/>
                </a:solidFill>
                <a:latin typeface="Calibri"/>
              </a:rPr>
              <a:t>Ruth Aylett  ·  1999  ·  AAAI Fall Symposium on Narrative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4173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14B2E"/>
                </a:solidFill>
                <a:latin typeface="Calibri"/>
              </a:rPr>
              <a:t>What to Write in Chapter 2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993392"/>
            <a:ext cx="11475720" cy="2743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" y="2221991"/>
            <a:ext cx="73152" cy="7315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121408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Use Aylett to define emergent narrative and position PNE within the authored/emergent spectrum: 'Aylett (1999) distinguishes authored narrative, in which story events are predetermined, from emergent narrative, in which story arises from autonomous agent behaviour. PNE occupies a hybrid position...'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971799"/>
            <a:ext cx="73152" cy="7315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2871215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Then explain HOW PNE is hybrid: emergent at the dialogue level (BDI pipeline, LLM generation), authored at the structural level (scenario graph, FSM transitions).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3721607"/>
            <a:ext cx="73152" cy="7315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3621023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This is one of the most directly applicable sources to PNE's core design thesis — give it a full paragraph, not just a citation.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4471416"/>
            <a:ext cx="73152" cy="73152"/>
          </a:xfrm>
          <a:prstGeom prst="rect">
            <a:avLst/>
          </a:prstGeom>
          <a:solidFill>
            <a:srgbClr val="C14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4370831"/>
            <a:ext cx="112928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ECF5"/>
                </a:solidFill>
                <a:latin typeface="Calibri"/>
              </a:rPr>
              <a:t>Pair with Murray: Murray defines what good interactive narrative should feel like; Aylett defines the technical problem PNE is solving.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